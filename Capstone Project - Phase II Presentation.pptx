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Fira Sans Bold" charset="1" panose="020B0803050000020004"/>
      <p:regular r:id="rId20"/>
    </p:embeddedFont>
    <p:embeddedFont>
      <p:font typeface="Fira Sans Light" charset="1" panose="020B0403050000020004"/>
      <p:regular r:id="rId21"/>
    </p:embeddedFont>
    <p:embeddedFont>
      <p:font typeface="Fira Sans Medium" charset="1" panose="020B0603050000020004"/>
      <p:regular r:id="rId22"/>
    </p:embeddedFont>
    <p:embeddedFont>
      <p:font typeface="Canva Sans" charset="1" panose="020B0503030501040103"/>
      <p:regular r:id="rId23"/>
    </p:embeddedFont>
    <p:embeddedFont>
      <p:font typeface="Fira Sans" charset="1" panose="020B0503050000020004"/>
      <p:regular r:id="rId27"/>
    </p:embeddedFont>
    <p:embeddedFont>
      <p:font typeface="Aileron" charset="1" panose="00000500000000000000"/>
      <p:regular r:id="rId28"/>
    </p:embeddedFont>
    <p:embeddedFont>
      <p:font typeface="Aileron Heavy" charset="1" panose="00000A00000000000000"/>
      <p:regular r:id="rId29"/>
    </p:embeddedFont>
    <p:embeddedFont>
      <p:font typeface="Montserrat Classic Bold" charset="1" panose="00000800000000000000"/>
      <p:regular r:id="rId32"/>
    </p:embeddedFont>
    <p:embeddedFont>
      <p:font typeface="Montserrat Classic" charset="1" panose="000005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Slides/notesSlide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Lets talk about our Solution and objectives. Our system will be a web based application created with the most modern technology's. we plan on creating a responsive accessible website that will allow all devices from desktop to mobile phones</a:t>
            </a:r>
          </a:p>
          <a:p>
            <a:r>
              <a:rPr lang="en-US"/>
              <a:t/>
            </a:r>
          </a:p>
          <a:p>
            <a:r>
              <a:rPr lang="en-US"/>
              <a:t>We will create a Centrailzed data management which will be a critcal role in our system this will eliminate the use of excel and pdf files per village and will store all the data in one secure place. </a:t>
            </a:r>
          </a:p>
          <a:p>
            <a:r>
              <a:rPr lang="en-US"/>
              <a:t>With the integration of the pitaron plan which is a multi year infestractor devlopment for the golan heights. </a:t>
            </a:r>
          </a:p>
          <a:p>
            <a:r>
              <a:rPr lang="en-US"/>
              <a:t>Educational, Secuirty, Roads and more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Lets talk about our Solution and objectives. Our system will be a web based application created with the most modern technology's. we plan on creating a responsive accessible website that will allow all devices from desktop to mobile phones</a:t>
            </a:r>
          </a:p>
          <a:p>
            <a:r>
              <a:rPr lang="en-US"/>
              <a:t/>
            </a:r>
          </a:p>
          <a:p>
            <a:r>
              <a:rPr lang="en-US"/>
              <a:t>We will create a Centrailzed data management which will be a critcal role in our system this will eliminate the use of excel and pdf files per village and will store all the data in one secure place. </a:t>
            </a:r>
          </a:p>
          <a:p>
            <a:r>
              <a:rPr lang="en-US"/>
              <a:t>With the integration of the pitaron plan which is a multi year infestractor devlopment for the golan heights. </a:t>
            </a:r>
          </a:p>
          <a:p>
            <a:r>
              <a:rPr lang="en-US"/>
              <a:t>Educational, Secuirty, Roads and more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An NPS score measures customer loyalty by looking at their likelihood of recommending a given business.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Lets talk about our Solution and objectives. Our system will be a web based application created with the most modern technology's. we plan on creating a responsive accessible website that will allow all devices from desktop to mobile phones</a:t>
            </a:r>
          </a:p>
          <a:p>
            <a:r>
              <a:rPr lang="en-US"/>
              <a:t/>
            </a:r>
          </a:p>
          <a:p>
            <a:r>
              <a:rPr lang="en-US"/>
              <a:t>We will create a Centrailzed data management which will be a critcal role in our system this will eliminate the use of excel and pdf files per village and will store all the data in one secure place. </a:t>
            </a:r>
          </a:p>
          <a:p>
            <a:r>
              <a:rPr lang="en-US"/>
              <a:t>With the integration of the pitaron plan which is a multi year infestractor devlopment for the golan heights. </a:t>
            </a:r>
          </a:p>
          <a:p>
            <a:r>
              <a:rPr lang="en-US"/>
              <a:t>Educational, Secuirty, Roads and more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jpe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13" Target="../media/image41.png" Type="http://schemas.openxmlformats.org/officeDocument/2006/relationships/image"/><Relationship Id="rId14" Target="../media/image42.png" Type="http://schemas.openxmlformats.org/officeDocument/2006/relationships/image"/><Relationship Id="rId15" Target="../media/image43.pn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3.jpe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3.jpe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54824" y="7024961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93062" y="5850810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025359" y="404100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8472761"/>
            <a:ext cx="5967139" cy="1408578"/>
          </a:xfrm>
          <a:custGeom>
            <a:avLst/>
            <a:gdLst/>
            <a:ahLst/>
            <a:cxnLst/>
            <a:rect r="r" b="b" t="t" l="l"/>
            <a:pathLst>
              <a:path h="1408578" w="5967139">
                <a:moveTo>
                  <a:pt x="0" y="0"/>
                </a:moveTo>
                <a:lnTo>
                  <a:pt x="5967139" y="0"/>
                </a:lnTo>
                <a:lnTo>
                  <a:pt x="5967139" y="1408578"/>
                </a:lnTo>
                <a:lnTo>
                  <a:pt x="0" y="1408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52785" y="8472761"/>
            <a:ext cx="3772976" cy="1408578"/>
          </a:xfrm>
          <a:custGeom>
            <a:avLst/>
            <a:gdLst/>
            <a:ahLst/>
            <a:cxnLst/>
            <a:rect r="r" b="b" t="t" l="l"/>
            <a:pathLst>
              <a:path h="1408578" w="3772976">
                <a:moveTo>
                  <a:pt x="0" y="0"/>
                </a:moveTo>
                <a:lnTo>
                  <a:pt x="3772976" y="0"/>
                </a:lnTo>
                <a:lnTo>
                  <a:pt x="3772976" y="1408578"/>
                </a:lnTo>
                <a:lnTo>
                  <a:pt x="0" y="1408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028700"/>
            <a:ext cx="10202605" cy="6789395"/>
            <a:chOff x="0" y="0"/>
            <a:chExt cx="13603473" cy="905252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13603473" cy="6511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Golan Regional Council Management Application​</a:t>
              </a:r>
            </a:p>
            <a:p>
              <a:pPr algn="l">
                <a:lnSpc>
                  <a:spcPts val="9600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850981"/>
              <a:ext cx="13603473" cy="2201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By Guy Edri &amp; Eldad Shneor.</a:t>
              </a:r>
            </a:p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Advisor: Dr. Naomi Unkelos Shpigel </a:t>
              </a:r>
            </a:p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Phase II</a:t>
              </a:r>
            </a:p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Project Code: 24-2-D-17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57823" y="8369129"/>
            <a:ext cx="4961246" cy="4296462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33642" y="-2488015"/>
            <a:ext cx="7027514" cy="6085860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058999" y="160389"/>
            <a:ext cx="5366823" cy="9966222"/>
          </a:xfrm>
          <a:custGeom>
            <a:avLst/>
            <a:gdLst/>
            <a:ahLst/>
            <a:cxnLst/>
            <a:rect r="r" b="b" t="t" l="l"/>
            <a:pathLst>
              <a:path h="9966222" w="5366823">
                <a:moveTo>
                  <a:pt x="0" y="0"/>
                </a:moveTo>
                <a:lnTo>
                  <a:pt x="5366824" y="0"/>
                </a:lnTo>
                <a:lnTo>
                  <a:pt x="5366824" y="9966222"/>
                </a:lnTo>
                <a:lnTo>
                  <a:pt x="0" y="99662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09650"/>
            <a:ext cx="8574859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Introduction</a:t>
            </a:r>
          </a:p>
          <a:p>
            <a:pPr algn="l">
              <a:lnSpc>
                <a:spcPts val="7680"/>
              </a:lnSpc>
              <a:spcBef>
                <a:spcPct val="0"/>
              </a:spcBef>
            </a:pPr>
            <a:r>
              <a:rPr lang="en-US" b="true" sz="6400" spc="-6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Golan Regional council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09650"/>
            <a:ext cx="8574859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Introduction</a:t>
            </a:r>
          </a:p>
          <a:p>
            <a:pPr algn="l">
              <a:lnSpc>
                <a:spcPts val="7680"/>
              </a:lnSpc>
              <a:spcBef>
                <a:spcPct val="0"/>
              </a:spcBef>
            </a:pPr>
            <a:r>
              <a:rPr lang="en-US" b="true" sz="6400" spc="-6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Golan Regional council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3246" y="3431344"/>
            <a:ext cx="10088746" cy="49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336" indent="-291168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The Golan Regional Council has 33 villages under its jurisdiction.</a:t>
            </a:r>
          </a:p>
          <a:p>
            <a:pPr algn="l" marL="582336" indent="-291168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The council formed a 5 year plan called Pitaron</a:t>
            </a:r>
          </a:p>
          <a:p>
            <a:pPr algn="l" marL="582336" indent="-291168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The council, currently, has a serious problem with data management.</a:t>
            </a:r>
          </a:p>
          <a:p>
            <a:pPr algn="l">
              <a:lnSpc>
                <a:spcPts val="3776"/>
              </a:lnSpc>
            </a:pPr>
          </a:p>
          <a:p>
            <a:pPr algn="l" marL="647104" indent="-323552" lvl="1">
              <a:lnSpc>
                <a:spcPts val="4196"/>
              </a:lnSpc>
              <a:buFont typeface="Arial"/>
              <a:buChar char="•"/>
            </a:pPr>
            <a:r>
              <a:rPr lang="en-US" b="true" sz="2997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Projects are stored in one big, cumbersome, Excel file</a:t>
            </a:r>
          </a:p>
          <a:p>
            <a:pPr algn="l">
              <a:lnSpc>
                <a:spcPts val="4196"/>
              </a:lnSpc>
            </a:pPr>
          </a:p>
          <a:p>
            <a:pPr algn="l" marL="647104" indent="-323552" lvl="1">
              <a:lnSpc>
                <a:spcPts val="4196"/>
              </a:lnSpc>
              <a:buFont typeface="Arial"/>
              <a:buChar char="•"/>
            </a:pPr>
            <a:r>
              <a:rPr lang="en-US" b="true" sz="2997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Each Village has its own file with an Excel file and a Word file, containing each village data.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88013" y="9580390"/>
            <a:ext cx="23700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2161848" y="4005595"/>
            <a:ext cx="1798578" cy="1557577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33718" y="5030887"/>
            <a:ext cx="9085018" cy="725170"/>
            <a:chOff x="0" y="0"/>
            <a:chExt cx="12113358" cy="966893"/>
          </a:xfrm>
        </p:grpSpPr>
        <p:sp>
          <p:nvSpPr>
            <p:cNvPr name="AutoShape 11" id="11"/>
            <p:cNvSpPr/>
            <p:nvPr/>
          </p:nvSpPr>
          <p:spPr>
            <a:xfrm flipV="true">
              <a:off x="28" y="436033"/>
              <a:ext cx="10878217" cy="47413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28" y="-47625"/>
              <a:ext cx="1211333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Yaacov Se-Lavan, Deputy Chairman of the Golan Regional Council​</a:t>
              </a: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15116738" y="-124533"/>
            <a:ext cx="3480308" cy="3013963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-10800000">
            <a:off x="13509044" y="0"/>
            <a:ext cx="1798578" cy="1557577"/>
            <a:chOff x="0" y="0"/>
            <a:chExt cx="3619627" cy="31346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-10800000">
            <a:off x="14408333" y="1793617"/>
            <a:ext cx="990350" cy="857648"/>
            <a:chOff x="0" y="0"/>
            <a:chExt cx="3619627" cy="31346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8184064" y="5756057"/>
            <a:ext cx="9534032" cy="4404723"/>
          </a:xfrm>
          <a:custGeom>
            <a:avLst/>
            <a:gdLst/>
            <a:ahLst/>
            <a:cxnLst/>
            <a:rect r="r" b="b" t="t" l="l"/>
            <a:pathLst>
              <a:path h="4404723" w="9534032">
                <a:moveTo>
                  <a:pt x="0" y="0"/>
                </a:moveTo>
                <a:lnTo>
                  <a:pt x="9534032" y="0"/>
                </a:lnTo>
                <a:lnTo>
                  <a:pt x="9534032" y="4404723"/>
                </a:lnTo>
                <a:lnTo>
                  <a:pt x="0" y="4404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150680"/>
            <a:ext cx="551274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Motivation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96604" y="2570343"/>
            <a:ext cx="24396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78664" y="2603640"/>
            <a:ext cx="10000450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Currently, comparing data across villages and projects is extremely difficult and time-consuming. </a:t>
            </a:r>
            <a:r>
              <a:rPr lang="en-US" b="true" sz="2699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I am forced to go into a huge projects file and 33 village cases and manually record the information and share it</a:t>
            </a: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. It is highly inefficient and wastes a lot of time.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70396" y="4505325"/>
            <a:ext cx="24866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881278" y="9580390"/>
            <a:ext cx="25047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78688" y="8844442"/>
            <a:ext cx="920192" cy="796891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178688" y="9242887"/>
            <a:ext cx="1840384" cy="1593781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5839642" y="9442585"/>
            <a:ext cx="1609787" cy="1394083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7500" y="4586263"/>
            <a:ext cx="5705011" cy="1445101"/>
            <a:chOff x="0" y="0"/>
            <a:chExt cx="7606681" cy="19268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84788" y="0"/>
              <a:ext cx="818657" cy="1077181"/>
            </a:xfrm>
            <a:custGeom>
              <a:avLst/>
              <a:gdLst/>
              <a:ahLst/>
              <a:cxnLst/>
              <a:rect r="r" b="b" t="t" l="l"/>
              <a:pathLst>
                <a:path h="1077181" w="818657">
                  <a:moveTo>
                    <a:pt x="0" y="0"/>
                  </a:moveTo>
                  <a:lnTo>
                    <a:pt x="818658" y="0"/>
                  </a:lnTo>
                  <a:lnTo>
                    <a:pt x="818658" y="1077181"/>
                  </a:lnTo>
                  <a:lnTo>
                    <a:pt x="0" y="1077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775460" y="0"/>
              <a:ext cx="818657" cy="1077181"/>
            </a:xfrm>
            <a:custGeom>
              <a:avLst/>
              <a:gdLst/>
              <a:ahLst/>
              <a:cxnLst/>
              <a:rect r="r" b="b" t="t" l="l"/>
              <a:pathLst>
                <a:path h="1077181" w="818657">
                  <a:moveTo>
                    <a:pt x="0" y="0"/>
                  </a:moveTo>
                  <a:lnTo>
                    <a:pt x="818657" y="0"/>
                  </a:lnTo>
                  <a:lnTo>
                    <a:pt x="818657" y="1077181"/>
                  </a:lnTo>
                  <a:lnTo>
                    <a:pt x="0" y="1077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366131" y="0"/>
              <a:ext cx="818657" cy="1077181"/>
            </a:xfrm>
            <a:custGeom>
              <a:avLst/>
              <a:gdLst/>
              <a:ahLst/>
              <a:cxnLst/>
              <a:rect r="r" b="b" t="t" l="l"/>
              <a:pathLst>
                <a:path h="1077181" w="818657">
                  <a:moveTo>
                    <a:pt x="0" y="0"/>
                  </a:moveTo>
                  <a:lnTo>
                    <a:pt x="818657" y="0"/>
                  </a:lnTo>
                  <a:lnTo>
                    <a:pt x="818657" y="1077181"/>
                  </a:lnTo>
                  <a:lnTo>
                    <a:pt x="0" y="1077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1272751"/>
              <a:ext cx="7606681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Data Management Inefficiencies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64593" y="4602462"/>
            <a:ext cx="3758814" cy="1412703"/>
            <a:chOff x="0" y="0"/>
            <a:chExt cx="5011752" cy="188360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229554"/>
              <a:ext cx="5011752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Project management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1972182" y="0"/>
              <a:ext cx="1067388" cy="1077181"/>
            </a:xfrm>
            <a:custGeom>
              <a:avLst/>
              <a:gdLst/>
              <a:ahLst/>
              <a:cxnLst/>
              <a:rect r="r" b="b" t="t" l="l"/>
              <a:pathLst>
                <a:path h="1077181" w="1067388">
                  <a:moveTo>
                    <a:pt x="0" y="0"/>
                  </a:moveTo>
                  <a:lnTo>
                    <a:pt x="1067388" y="0"/>
                  </a:lnTo>
                  <a:lnTo>
                    <a:pt x="1067388" y="1077181"/>
                  </a:lnTo>
                  <a:lnTo>
                    <a:pt x="0" y="1077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600178" y="4424950"/>
            <a:ext cx="3894091" cy="1606414"/>
            <a:chOff x="0" y="0"/>
            <a:chExt cx="5192121" cy="214188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487835"/>
              <a:ext cx="5192121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Collaboration Barriers 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2596060" y="0"/>
              <a:ext cx="1028218" cy="1077181"/>
            </a:xfrm>
            <a:custGeom>
              <a:avLst/>
              <a:gdLst/>
              <a:ahLst/>
              <a:cxnLst/>
              <a:rect r="r" b="b" t="t" l="l"/>
              <a:pathLst>
                <a:path h="1077181" w="1028218">
                  <a:moveTo>
                    <a:pt x="0" y="0"/>
                  </a:moveTo>
                  <a:lnTo>
                    <a:pt x="1028218" y="0"/>
                  </a:lnTo>
                  <a:lnTo>
                    <a:pt x="1028218" y="1077181"/>
                  </a:lnTo>
                  <a:lnTo>
                    <a:pt x="0" y="1077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420112" y="58079"/>
              <a:ext cx="1016467" cy="1077181"/>
            </a:xfrm>
            <a:custGeom>
              <a:avLst/>
              <a:gdLst/>
              <a:ahLst/>
              <a:cxnLst/>
              <a:rect r="r" b="b" t="t" l="l"/>
              <a:pathLst>
                <a:path h="1077181" w="1016467">
                  <a:moveTo>
                    <a:pt x="0" y="0"/>
                  </a:moveTo>
                  <a:lnTo>
                    <a:pt x="1016467" y="0"/>
                  </a:lnTo>
                  <a:lnTo>
                    <a:pt x="1016467" y="1077181"/>
                  </a:lnTo>
                  <a:lnTo>
                    <a:pt x="0" y="1077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68989" y="6108483"/>
            <a:ext cx="5507707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Separate Excel and Word files for each village 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Difficult access and analysis of information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1504" y="1164551"/>
            <a:ext cx="6212881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The Problem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60504" y="6094196"/>
            <a:ext cx="5166993" cy="211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Lack of standardized project workflows leading to duplicated efforts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Lack of centralized data about projects happening in the council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13271" y="6108483"/>
            <a:ext cx="5118832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Lack of coordination among council employees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Impeded information flow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Newly elected council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884925" y="9574657"/>
            <a:ext cx="2612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grpSp>
        <p:nvGrpSpPr>
          <p:cNvPr name="Group 25" id="25"/>
          <p:cNvGrpSpPr/>
          <p:nvPr/>
        </p:nvGrpSpPr>
        <p:grpSpPr>
          <a:xfrm rot="-10800000">
            <a:off x="12644182" y="249911"/>
            <a:ext cx="1798578" cy="1557577"/>
            <a:chOff x="0" y="0"/>
            <a:chExt cx="3619627" cy="313461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-10800000">
            <a:off x="16073819" y="1028700"/>
            <a:ext cx="3378391" cy="2925703"/>
            <a:chOff x="0" y="0"/>
            <a:chExt cx="3619627" cy="313461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-10800000">
            <a:off x="14151805" y="-2247350"/>
            <a:ext cx="4985461" cy="4317433"/>
            <a:chOff x="0" y="0"/>
            <a:chExt cx="3619627" cy="31346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915828" y="-3678236"/>
            <a:ext cx="12804984" cy="6226137"/>
            <a:chOff x="0" y="0"/>
            <a:chExt cx="11048529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8529" cy="5372100"/>
            </a:xfrm>
            <a:custGeom>
              <a:avLst/>
              <a:gdLst/>
              <a:ahLst/>
              <a:cxnLst/>
              <a:rect r="r" b="b" t="t" l="l"/>
              <a:pathLst>
                <a:path h="5372100" w="11048529">
                  <a:moveTo>
                    <a:pt x="949785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9497859" y="5372100"/>
                  </a:lnTo>
                  <a:lnTo>
                    <a:pt x="11048529" y="2686050"/>
                  </a:lnTo>
                  <a:lnTo>
                    <a:pt x="9497859" y="0"/>
                  </a:ln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11724" y="-865713"/>
            <a:ext cx="2695438" cy="2334501"/>
            <a:chOff x="0" y="0"/>
            <a:chExt cx="620268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31937" y="465062"/>
            <a:ext cx="7420450" cy="166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spc="-60" b="tru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Current State of Work</a:t>
            </a:r>
          </a:p>
          <a:p>
            <a:pPr algn="l" marL="0" indent="0" lvl="0">
              <a:lnSpc>
                <a:spcPts val="5330"/>
              </a:lnSpc>
              <a:spcBef>
                <a:spcPct val="0"/>
              </a:spcBef>
            </a:pPr>
            <a:r>
              <a:rPr lang="en-US" b="true" sz="4100" spc="-4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Settlements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872413" y="9629477"/>
            <a:ext cx="25516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76668" y="2849490"/>
            <a:ext cx="16534665" cy="7227026"/>
          </a:xfrm>
          <a:custGeom>
            <a:avLst/>
            <a:gdLst/>
            <a:ahLst/>
            <a:cxnLst/>
            <a:rect r="r" b="b" t="t" l="l"/>
            <a:pathLst>
              <a:path h="7227026" w="16534665">
                <a:moveTo>
                  <a:pt x="0" y="0"/>
                </a:moveTo>
                <a:lnTo>
                  <a:pt x="16534664" y="0"/>
                </a:lnTo>
                <a:lnTo>
                  <a:pt x="16534664" y="7227027"/>
                </a:lnTo>
                <a:lnTo>
                  <a:pt x="0" y="7227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915828" y="-3678236"/>
            <a:ext cx="12804984" cy="6226137"/>
            <a:chOff x="0" y="0"/>
            <a:chExt cx="11048529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8529" cy="5372100"/>
            </a:xfrm>
            <a:custGeom>
              <a:avLst/>
              <a:gdLst/>
              <a:ahLst/>
              <a:cxnLst/>
              <a:rect r="r" b="b" t="t" l="l"/>
              <a:pathLst>
                <a:path h="5372100" w="11048529">
                  <a:moveTo>
                    <a:pt x="949785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9497859" y="5372100"/>
                  </a:lnTo>
                  <a:lnTo>
                    <a:pt x="11048529" y="2686050"/>
                  </a:lnTo>
                  <a:lnTo>
                    <a:pt x="9497859" y="0"/>
                  </a:ln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11724" y="-865713"/>
            <a:ext cx="2695438" cy="2334501"/>
            <a:chOff x="0" y="0"/>
            <a:chExt cx="620268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0745" y="2206538"/>
            <a:ext cx="17866510" cy="7637933"/>
          </a:xfrm>
          <a:custGeom>
            <a:avLst/>
            <a:gdLst/>
            <a:ahLst/>
            <a:cxnLst/>
            <a:rect r="r" b="b" t="t" l="l"/>
            <a:pathLst>
              <a:path h="7637933" w="17866510">
                <a:moveTo>
                  <a:pt x="0" y="0"/>
                </a:moveTo>
                <a:lnTo>
                  <a:pt x="17866510" y="0"/>
                </a:lnTo>
                <a:lnTo>
                  <a:pt x="17866510" y="7637933"/>
                </a:lnTo>
                <a:lnTo>
                  <a:pt x="0" y="7637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61139" y="9629477"/>
            <a:ext cx="2777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745" y="356157"/>
            <a:ext cx="7420450" cy="166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spc="-60" b="tru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Current State of Work</a:t>
            </a:r>
          </a:p>
          <a:p>
            <a:pPr algn="l" marL="0" indent="0" lvl="0">
              <a:lnSpc>
                <a:spcPts val="5330"/>
              </a:lnSpc>
              <a:spcBef>
                <a:spcPct val="0"/>
              </a:spcBef>
            </a:pPr>
            <a:r>
              <a:rPr lang="en-US" b="true" sz="4100" spc="-4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Projects</a:t>
            </a:r>
            <a:r>
              <a:rPr lang="en-US" b="true" sz="4100" spc="-4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Management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9067" y="8937707"/>
            <a:ext cx="5231327" cy="29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</a:rPr>
              <a:t>Back to Agenda Page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414409" y="7086203"/>
            <a:ext cx="3480308" cy="3013963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602192" y="329554"/>
            <a:ext cx="1798578" cy="1557577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8243897" y="-427624"/>
            <a:ext cx="13031070" cy="11284968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793273" y="4214583"/>
            <a:ext cx="964548" cy="761116"/>
          </a:xfrm>
          <a:custGeom>
            <a:avLst/>
            <a:gdLst/>
            <a:ahLst/>
            <a:cxnLst/>
            <a:rect r="r" b="b" t="t" l="l"/>
            <a:pathLst>
              <a:path h="761116" w="964548">
                <a:moveTo>
                  <a:pt x="0" y="0"/>
                </a:moveTo>
                <a:lnTo>
                  <a:pt x="964548" y="0"/>
                </a:lnTo>
                <a:lnTo>
                  <a:pt x="964548" y="761116"/>
                </a:lnTo>
                <a:lnTo>
                  <a:pt x="0" y="7611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25228" y="4081576"/>
            <a:ext cx="932717" cy="937833"/>
          </a:xfrm>
          <a:custGeom>
            <a:avLst/>
            <a:gdLst/>
            <a:ahLst/>
            <a:cxnLst/>
            <a:rect r="r" b="b" t="t" l="l"/>
            <a:pathLst>
              <a:path h="937833" w="932717">
                <a:moveTo>
                  <a:pt x="0" y="0"/>
                </a:moveTo>
                <a:lnTo>
                  <a:pt x="932717" y="0"/>
                </a:lnTo>
                <a:lnTo>
                  <a:pt x="932717" y="937832"/>
                </a:lnTo>
                <a:lnTo>
                  <a:pt x="0" y="9378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34889" y="6398384"/>
            <a:ext cx="1054420" cy="1037166"/>
          </a:xfrm>
          <a:custGeom>
            <a:avLst/>
            <a:gdLst/>
            <a:ahLst/>
            <a:cxnLst/>
            <a:rect r="r" b="b" t="t" l="l"/>
            <a:pathLst>
              <a:path h="1037166" w="1054420">
                <a:moveTo>
                  <a:pt x="0" y="0"/>
                </a:moveTo>
                <a:lnTo>
                  <a:pt x="1054420" y="0"/>
                </a:lnTo>
                <a:lnTo>
                  <a:pt x="1054420" y="1037167"/>
                </a:lnTo>
                <a:lnTo>
                  <a:pt x="0" y="10371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18030" y="1028700"/>
            <a:ext cx="9010399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spc="-84" b="tru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Our Solution:</a:t>
            </a:r>
          </a:p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Golan Application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05515" y="5195431"/>
            <a:ext cx="3340064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Web-Based Application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21554" y="5195431"/>
            <a:ext cx="3340064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Centralized Data 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05515" y="7512239"/>
            <a:ext cx="3340064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User-Friendly Interface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11023" y="7512239"/>
            <a:ext cx="3340064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Scalable Solution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599515" y="6680811"/>
            <a:ext cx="963080" cy="728439"/>
          </a:xfrm>
          <a:custGeom>
            <a:avLst/>
            <a:gdLst/>
            <a:ahLst/>
            <a:cxnLst/>
            <a:rect r="r" b="b" t="t" l="l"/>
            <a:pathLst>
              <a:path h="728439" w="963080">
                <a:moveTo>
                  <a:pt x="0" y="0"/>
                </a:moveTo>
                <a:lnTo>
                  <a:pt x="963080" y="0"/>
                </a:lnTo>
                <a:lnTo>
                  <a:pt x="963080" y="728439"/>
                </a:lnTo>
                <a:lnTo>
                  <a:pt x="0" y="7284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900030" y="9580390"/>
            <a:ext cx="2129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grpSp>
        <p:nvGrpSpPr>
          <p:cNvPr name="Group 19" id="19"/>
          <p:cNvGrpSpPr/>
          <p:nvPr/>
        </p:nvGrpSpPr>
        <p:grpSpPr>
          <a:xfrm rot="-10800000">
            <a:off x="13108687" y="152012"/>
            <a:ext cx="920192" cy="796891"/>
            <a:chOff x="0" y="0"/>
            <a:chExt cx="3619627" cy="31346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-10800000">
            <a:off x="13108687" y="550457"/>
            <a:ext cx="1840384" cy="1593781"/>
            <a:chOff x="0" y="0"/>
            <a:chExt cx="3619627" cy="31346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322526" y="0"/>
            <a:ext cx="4336638" cy="3755333"/>
            <a:chOff x="0" y="0"/>
            <a:chExt cx="4282440" cy="3708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11"/>
              <a:stretch>
                <a:fillRect l="-76416" t="0" r="-76416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-10800000">
            <a:off x="17049377" y="3201058"/>
            <a:ext cx="1609787" cy="1394083"/>
            <a:chOff x="0" y="0"/>
            <a:chExt cx="3619627" cy="313461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834515" y="7512239"/>
            <a:ext cx="3340064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“Pitaron” Plan Integration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952388" y="6186031"/>
            <a:ext cx="733995" cy="1160049"/>
          </a:xfrm>
          <a:custGeom>
            <a:avLst/>
            <a:gdLst/>
            <a:ahLst/>
            <a:cxnLst/>
            <a:rect r="r" b="b" t="t" l="l"/>
            <a:pathLst>
              <a:path h="1160049" w="733995">
                <a:moveTo>
                  <a:pt x="0" y="0"/>
                </a:moveTo>
                <a:lnTo>
                  <a:pt x="733995" y="0"/>
                </a:lnTo>
                <a:lnTo>
                  <a:pt x="733995" y="1160049"/>
                </a:lnTo>
                <a:lnTo>
                  <a:pt x="0" y="11600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162290" y="6663664"/>
            <a:ext cx="1008421" cy="762733"/>
          </a:xfrm>
          <a:custGeom>
            <a:avLst/>
            <a:gdLst/>
            <a:ahLst/>
            <a:cxnLst/>
            <a:rect r="r" b="b" t="t" l="l"/>
            <a:pathLst>
              <a:path h="762733" w="1008421">
                <a:moveTo>
                  <a:pt x="0" y="0"/>
                </a:moveTo>
                <a:lnTo>
                  <a:pt x="1008421" y="0"/>
                </a:lnTo>
                <a:lnTo>
                  <a:pt x="1008421" y="762733"/>
                </a:lnTo>
                <a:lnTo>
                  <a:pt x="0" y="76273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467891" y="4155693"/>
            <a:ext cx="971541" cy="789598"/>
          </a:xfrm>
          <a:custGeom>
            <a:avLst/>
            <a:gdLst/>
            <a:ahLst/>
            <a:cxnLst/>
            <a:rect r="r" b="b" t="t" l="l"/>
            <a:pathLst>
              <a:path h="789598" w="971541">
                <a:moveTo>
                  <a:pt x="0" y="0"/>
                </a:moveTo>
                <a:lnTo>
                  <a:pt x="971541" y="0"/>
                </a:lnTo>
                <a:lnTo>
                  <a:pt x="971541" y="789598"/>
                </a:lnTo>
                <a:lnTo>
                  <a:pt x="0" y="789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411023" y="5176760"/>
            <a:ext cx="3340064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Project Management Module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96439" y="7745374"/>
            <a:ext cx="3289685" cy="2571935"/>
          </a:xfrm>
          <a:custGeom>
            <a:avLst/>
            <a:gdLst/>
            <a:ahLst/>
            <a:cxnLst/>
            <a:rect r="r" b="b" t="t" l="l"/>
            <a:pathLst>
              <a:path h="2571935" w="3289685">
                <a:moveTo>
                  <a:pt x="0" y="0"/>
                </a:moveTo>
                <a:lnTo>
                  <a:pt x="3289685" y="0"/>
                </a:lnTo>
                <a:lnTo>
                  <a:pt x="3289685" y="2571935"/>
                </a:lnTo>
                <a:lnTo>
                  <a:pt x="0" y="2571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24291" y="2859307"/>
            <a:ext cx="1151577" cy="1151577"/>
          </a:xfrm>
          <a:custGeom>
            <a:avLst/>
            <a:gdLst/>
            <a:ahLst/>
            <a:cxnLst/>
            <a:rect r="r" b="b" t="t" l="l"/>
            <a:pathLst>
              <a:path h="1151577" w="1151577">
                <a:moveTo>
                  <a:pt x="0" y="0"/>
                </a:moveTo>
                <a:lnTo>
                  <a:pt x="1151577" y="0"/>
                </a:lnTo>
                <a:lnTo>
                  <a:pt x="1151577" y="1151577"/>
                </a:lnTo>
                <a:lnTo>
                  <a:pt x="0" y="1151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43492" y="2719195"/>
            <a:ext cx="1149582" cy="1149582"/>
          </a:xfrm>
          <a:custGeom>
            <a:avLst/>
            <a:gdLst/>
            <a:ahLst/>
            <a:cxnLst/>
            <a:rect r="r" b="b" t="t" l="l"/>
            <a:pathLst>
              <a:path h="1149582" w="1149582">
                <a:moveTo>
                  <a:pt x="0" y="0"/>
                </a:moveTo>
                <a:lnTo>
                  <a:pt x="1149582" y="0"/>
                </a:lnTo>
                <a:lnTo>
                  <a:pt x="1149582" y="1149582"/>
                </a:lnTo>
                <a:lnTo>
                  <a:pt x="0" y="1149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87635" y="4025527"/>
            <a:ext cx="1044091" cy="92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</a:pPr>
            <a:r>
              <a:rPr lang="en-US" sz="176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TypeScript</a:t>
            </a:r>
          </a:p>
          <a:p>
            <a:pPr algn="ctr">
              <a:lnSpc>
                <a:spcPts val="2473"/>
              </a:lnSpc>
            </a:pPr>
            <a:r>
              <a:rPr lang="en-US" sz="176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&amp;</a:t>
            </a:r>
          </a:p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176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JacaScript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2723" y="1933433"/>
            <a:ext cx="4764803" cy="7457955"/>
            <a:chOff x="0" y="0"/>
            <a:chExt cx="1420498" cy="2223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0498" cy="2223389"/>
            </a:xfrm>
            <a:custGeom>
              <a:avLst/>
              <a:gdLst/>
              <a:ahLst/>
              <a:cxnLst/>
              <a:rect r="r" b="b" t="t" l="l"/>
              <a:pathLst>
                <a:path h="2223389" w="1420498">
                  <a:moveTo>
                    <a:pt x="82866" y="0"/>
                  </a:moveTo>
                  <a:lnTo>
                    <a:pt x="1337632" y="0"/>
                  </a:lnTo>
                  <a:cubicBezTo>
                    <a:pt x="1359610" y="0"/>
                    <a:pt x="1380687" y="8730"/>
                    <a:pt x="1396227" y="24271"/>
                  </a:cubicBezTo>
                  <a:cubicBezTo>
                    <a:pt x="1411768" y="39811"/>
                    <a:pt x="1420498" y="60888"/>
                    <a:pt x="1420498" y="82866"/>
                  </a:cubicBezTo>
                  <a:lnTo>
                    <a:pt x="1420498" y="2140523"/>
                  </a:lnTo>
                  <a:cubicBezTo>
                    <a:pt x="1420498" y="2162501"/>
                    <a:pt x="1411768" y="2183578"/>
                    <a:pt x="1396227" y="2199118"/>
                  </a:cubicBezTo>
                  <a:cubicBezTo>
                    <a:pt x="1380687" y="2214658"/>
                    <a:pt x="1359610" y="2223389"/>
                    <a:pt x="1337632" y="2223389"/>
                  </a:cubicBezTo>
                  <a:lnTo>
                    <a:pt x="82866" y="2223389"/>
                  </a:lnTo>
                  <a:cubicBezTo>
                    <a:pt x="60888" y="2223389"/>
                    <a:pt x="39811" y="2214658"/>
                    <a:pt x="24271" y="2199118"/>
                  </a:cubicBezTo>
                  <a:cubicBezTo>
                    <a:pt x="8730" y="2183578"/>
                    <a:pt x="0" y="2162501"/>
                    <a:pt x="0" y="2140523"/>
                  </a:cubicBezTo>
                  <a:lnTo>
                    <a:pt x="0" y="82866"/>
                  </a:lnTo>
                  <a:cubicBezTo>
                    <a:pt x="0" y="60888"/>
                    <a:pt x="8730" y="39811"/>
                    <a:pt x="24271" y="24271"/>
                  </a:cubicBezTo>
                  <a:cubicBezTo>
                    <a:pt x="39811" y="8730"/>
                    <a:pt x="60888" y="0"/>
                    <a:pt x="828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20498" cy="2261489"/>
            </a:xfrm>
            <a:prstGeom prst="rect">
              <a:avLst/>
            </a:prstGeom>
          </p:spPr>
          <p:txBody>
            <a:bodyPr anchor="ctr" rtlCol="false" tIns="44879" lIns="44879" bIns="44879" rIns="44879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926522" y="2719195"/>
            <a:ext cx="1147500" cy="1147500"/>
          </a:xfrm>
          <a:custGeom>
            <a:avLst/>
            <a:gdLst/>
            <a:ahLst/>
            <a:cxnLst/>
            <a:rect r="r" b="b" t="t" l="l"/>
            <a:pathLst>
              <a:path h="1147500" w="1147500">
                <a:moveTo>
                  <a:pt x="0" y="0"/>
                </a:moveTo>
                <a:lnTo>
                  <a:pt x="1147500" y="0"/>
                </a:lnTo>
                <a:lnTo>
                  <a:pt x="1147500" y="1147500"/>
                </a:lnTo>
                <a:lnTo>
                  <a:pt x="0" y="1147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26522" y="3970702"/>
            <a:ext cx="1147500" cy="30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176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Next.JS 15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58226" y="2361658"/>
            <a:ext cx="4449874" cy="2636626"/>
            <a:chOff x="0" y="0"/>
            <a:chExt cx="1326610" cy="7860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6610" cy="786039"/>
            </a:xfrm>
            <a:custGeom>
              <a:avLst/>
              <a:gdLst/>
              <a:ahLst/>
              <a:cxnLst/>
              <a:rect r="r" b="b" t="t" l="l"/>
              <a:pathLst>
                <a:path h="786039" w="1326610">
                  <a:moveTo>
                    <a:pt x="88730" y="0"/>
                  </a:moveTo>
                  <a:lnTo>
                    <a:pt x="1237880" y="0"/>
                  </a:lnTo>
                  <a:cubicBezTo>
                    <a:pt x="1286884" y="0"/>
                    <a:pt x="1326610" y="39726"/>
                    <a:pt x="1326610" y="88730"/>
                  </a:cubicBezTo>
                  <a:lnTo>
                    <a:pt x="1326610" y="697309"/>
                  </a:lnTo>
                  <a:cubicBezTo>
                    <a:pt x="1326610" y="746313"/>
                    <a:pt x="1286884" y="786039"/>
                    <a:pt x="1237880" y="786039"/>
                  </a:cubicBezTo>
                  <a:lnTo>
                    <a:pt x="88730" y="786039"/>
                  </a:lnTo>
                  <a:cubicBezTo>
                    <a:pt x="65197" y="786039"/>
                    <a:pt x="42629" y="776691"/>
                    <a:pt x="25988" y="760051"/>
                  </a:cubicBezTo>
                  <a:cubicBezTo>
                    <a:pt x="9348" y="743410"/>
                    <a:pt x="0" y="720842"/>
                    <a:pt x="0" y="697309"/>
                  </a:cubicBezTo>
                  <a:lnTo>
                    <a:pt x="0" y="88730"/>
                  </a:lnTo>
                  <a:cubicBezTo>
                    <a:pt x="0" y="65197"/>
                    <a:pt x="9348" y="42629"/>
                    <a:pt x="25988" y="25988"/>
                  </a:cubicBezTo>
                  <a:cubicBezTo>
                    <a:pt x="42629" y="9348"/>
                    <a:pt x="65197" y="0"/>
                    <a:pt x="887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26610" cy="824139"/>
            </a:xfrm>
            <a:prstGeom prst="rect">
              <a:avLst/>
            </a:prstGeom>
          </p:spPr>
          <p:txBody>
            <a:bodyPr anchor="ctr" rtlCol="false" tIns="44879" lIns="44879" bIns="44879" rIns="44879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217073" y="2719195"/>
            <a:ext cx="1283368" cy="1112962"/>
          </a:xfrm>
          <a:custGeom>
            <a:avLst/>
            <a:gdLst/>
            <a:ahLst/>
            <a:cxnLst/>
            <a:rect r="r" b="b" t="t" l="l"/>
            <a:pathLst>
              <a:path h="1112962" w="1283368">
                <a:moveTo>
                  <a:pt x="0" y="0"/>
                </a:moveTo>
                <a:lnTo>
                  <a:pt x="1283368" y="0"/>
                </a:lnTo>
                <a:lnTo>
                  <a:pt x="1283368" y="1112962"/>
                </a:lnTo>
                <a:lnTo>
                  <a:pt x="0" y="11129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207266" y="5874464"/>
            <a:ext cx="1296511" cy="777907"/>
          </a:xfrm>
          <a:custGeom>
            <a:avLst/>
            <a:gdLst/>
            <a:ahLst/>
            <a:cxnLst/>
            <a:rect r="r" b="b" t="t" l="l"/>
            <a:pathLst>
              <a:path h="777907" w="1296511">
                <a:moveTo>
                  <a:pt x="0" y="0"/>
                </a:moveTo>
                <a:lnTo>
                  <a:pt x="1296511" y="0"/>
                </a:lnTo>
                <a:lnTo>
                  <a:pt x="1296511" y="777906"/>
                </a:lnTo>
                <a:lnTo>
                  <a:pt x="0" y="777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207266" y="6790981"/>
            <a:ext cx="1263072" cy="30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176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Tailwind CSS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269926" y="5874464"/>
            <a:ext cx="960929" cy="960929"/>
          </a:xfrm>
          <a:custGeom>
            <a:avLst/>
            <a:gdLst/>
            <a:ahLst/>
            <a:cxnLst/>
            <a:rect r="r" b="b" t="t" l="l"/>
            <a:pathLst>
              <a:path h="960929" w="960929">
                <a:moveTo>
                  <a:pt x="0" y="0"/>
                </a:moveTo>
                <a:lnTo>
                  <a:pt x="960928" y="0"/>
                </a:lnTo>
                <a:lnTo>
                  <a:pt x="960928" y="960928"/>
                </a:lnTo>
                <a:lnTo>
                  <a:pt x="0" y="9609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44385" y="6882492"/>
            <a:ext cx="1012009" cy="30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176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Shadcn UI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58226" y="5611922"/>
            <a:ext cx="4449874" cy="1696597"/>
            <a:chOff x="0" y="0"/>
            <a:chExt cx="1326610" cy="5057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26610" cy="505795"/>
            </a:xfrm>
            <a:custGeom>
              <a:avLst/>
              <a:gdLst/>
              <a:ahLst/>
              <a:cxnLst/>
              <a:rect r="r" b="b" t="t" l="l"/>
              <a:pathLst>
                <a:path h="505795" w="1326610">
                  <a:moveTo>
                    <a:pt x="88730" y="0"/>
                  </a:moveTo>
                  <a:lnTo>
                    <a:pt x="1237880" y="0"/>
                  </a:lnTo>
                  <a:cubicBezTo>
                    <a:pt x="1286884" y="0"/>
                    <a:pt x="1326610" y="39726"/>
                    <a:pt x="1326610" y="88730"/>
                  </a:cubicBezTo>
                  <a:lnTo>
                    <a:pt x="1326610" y="417064"/>
                  </a:lnTo>
                  <a:cubicBezTo>
                    <a:pt x="1326610" y="440597"/>
                    <a:pt x="1317262" y="463166"/>
                    <a:pt x="1300622" y="479806"/>
                  </a:cubicBezTo>
                  <a:cubicBezTo>
                    <a:pt x="1283982" y="496446"/>
                    <a:pt x="1261413" y="505795"/>
                    <a:pt x="1237880" y="505795"/>
                  </a:cubicBezTo>
                  <a:lnTo>
                    <a:pt x="88730" y="505795"/>
                  </a:lnTo>
                  <a:cubicBezTo>
                    <a:pt x="65197" y="505795"/>
                    <a:pt x="42629" y="496446"/>
                    <a:pt x="25988" y="479806"/>
                  </a:cubicBezTo>
                  <a:cubicBezTo>
                    <a:pt x="9348" y="463166"/>
                    <a:pt x="0" y="440597"/>
                    <a:pt x="0" y="417064"/>
                  </a:cubicBezTo>
                  <a:lnTo>
                    <a:pt x="0" y="88730"/>
                  </a:lnTo>
                  <a:cubicBezTo>
                    <a:pt x="0" y="65197"/>
                    <a:pt x="9348" y="42629"/>
                    <a:pt x="25988" y="25988"/>
                  </a:cubicBezTo>
                  <a:cubicBezTo>
                    <a:pt x="42629" y="9348"/>
                    <a:pt x="65197" y="0"/>
                    <a:pt x="887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26610" cy="543895"/>
            </a:xfrm>
            <a:prstGeom prst="rect">
              <a:avLst/>
            </a:prstGeom>
          </p:spPr>
          <p:txBody>
            <a:bodyPr anchor="ctr" rtlCol="false" tIns="44879" lIns="44879" bIns="44879" rIns="44879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069425" y="7947935"/>
            <a:ext cx="1827474" cy="1066788"/>
          </a:xfrm>
          <a:custGeom>
            <a:avLst/>
            <a:gdLst/>
            <a:ahLst/>
            <a:cxnLst/>
            <a:rect r="r" b="b" t="t" l="l"/>
            <a:pathLst>
              <a:path h="1066788" w="1827474">
                <a:moveTo>
                  <a:pt x="0" y="0"/>
                </a:moveTo>
                <a:lnTo>
                  <a:pt x="1827475" y="0"/>
                </a:lnTo>
                <a:lnTo>
                  <a:pt x="1827475" y="1066788"/>
                </a:lnTo>
                <a:lnTo>
                  <a:pt x="0" y="1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578694" y="8976623"/>
            <a:ext cx="808937" cy="30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176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Zustand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04123" y="4644552"/>
            <a:ext cx="11055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Neon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090671" y="4581755"/>
            <a:ext cx="140414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PostgreSQL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481957" y="1892522"/>
            <a:ext cx="4487674" cy="3491520"/>
            <a:chOff x="0" y="0"/>
            <a:chExt cx="5983565" cy="465536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5983565" cy="4655360"/>
              <a:chOff x="0" y="0"/>
              <a:chExt cx="1181939" cy="91957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181939" cy="919577"/>
              </a:xfrm>
              <a:custGeom>
                <a:avLst/>
                <a:gdLst/>
                <a:ahLst/>
                <a:cxnLst/>
                <a:rect r="r" b="b" t="t" l="l"/>
                <a:pathLst>
                  <a:path h="919577" w="1181939">
                    <a:moveTo>
                      <a:pt x="87983" y="0"/>
                    </a:moveTo>
                    <a:lnTo>
                      <a:pt x="1093956" y="0"/>
                    </a:lnTo>
                    <a:cubicBezTo>
                      <a:pt x="1142548" y="0"/>
                      <a:pt x="1181939" y="39391"/>
                      <a:pt x="1181939" y="87983"/>
                    </a:cubicBezTo>
                    <a:lnTo>
                      <a:pt x="1181939" y="831595"/>
                    </a:lnTo>
                    <a:cubicBezTo>
                      <a:pt x="1181939" y="880186"/>
                      <a:pt x="1142548" y="919577"/>
                      <a:pt x="1093956" y="919577"/>
                    </a:cubicBezTo>
                    <a:lnTo>
                      <a:pt x="87983" y="919577"/>
                    </a:lnTo>
                    <a:cubicBezTo>
                      <a:pt x="39391" y="919577"/>
                      <a:pt x="0" y="880186"/>
                      <a:pt x="0" y="831595"/>
                    </a:cubicBezTo>
                    <a:lnTo>
                      <a:pt x="0" y="87983"/>
                    </a:lnTo>
                    <a:cubicBezTo>
                      <a:pt x="0" y="39391"/>
                      <a:pt x="39391" y="0"/>
                      <a:pt x="8798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181939" cy="9576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98611" y="1657785"/>
              <a:ext cx="2496138" cy="2570377"/>
              <a:chOff x="0" y="0"/>
              <a:chExt cx="493064" cy="50772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93064" cy="507729"/>
              </a:xfrm>
              <a:custGeom>
                <a:avLst/>
                <a:gdLst/>
                <a:ahLst/>
                <a:cxnLst/>
                <a:rect r="r" b="b" t="t" l="l"/>
                <a:pathLst>
                  <a:path h="507729" w="493064">
                    <a:moveTo>
                      <a:pt x="210906" y="0"/>
                    </a:moveTo>
                    <a:lnTo>
                      <a:pt x="282158" y="0"/>
                    </a:lnTo>
                    <a:cubicBezTo>
                      <a:pt x="338094" y="0"/>
                      <a:pt x="391739" y="22220"/>
                      <a:pt x="431291" y="61773"/>
                    </a:cubicBezTo>
                    <a:cubicBezTo>
                      <a:pt x="470844" y="101325"/>
                      <a:pt x="493064" y="154970"/>
                      <a:pt x="493064" y="210906"/>
                    </a:cubicBezTo>
                    <a:lnTo>
                      <a:pt x="493064" y="296823"/>
                    </a:lnTo>
                    <a:cubicBezTo>
                      <a:pt x="493064" y="413303"/>
                      <a:pt x="398639" y="507729"/>
                      <a:pt x="282158" y="507729"/>
                    </a:cubicBezTo>
                    <a:lnTo>
                      <a:pt x="210906" y="507729"/>
                    </a:lnTo>
                    <a:cubicBezTo>
                      <a:pt x="154970" y="507729"/>
                      <a:pt x="101325" y="485508"/>
                      <a:pt x="61773" y="445956"/>
                    </a:cubicBezTo>
                    <a:cubicBezTo>
                      <a:pt x="22220" y="406403"/>
                      <a:pt x="0" y="352759"/>
                      <a:pt x="0" y="296823"/>
                    </a:cubicBezTo>
                    <a:lnTo>
                      <a:pt x="0" y="210906"/>
                    </a:lnTo>
                    <a:cubicBezTo>
                      <a:pt x="0" y="154970"/>
                      <a:pt x="22220" y="101325"/>
                      <a:pt x="61773" y="61773"/>
                    </a:cubicBezTo>
                    <a:cubicBezTo>
                      <a:pt x="101325" y="22220"/>
                      <a:pt x="154970" y="0"/>
                      <a:pt x="21090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493064" cy="5458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3205057" y="1566282"/>
              <a:ext cx="2496138" cy="2570377"/>
              <a:chOff x="0" y="0"/>
              <a:chExt cx="493064" cy="50772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93064" cy="507729"/>
              </a:xfrm>
              <a:custGeom>
                <a:avLst/>
                <a:gdLst/>
                <a:ahLst/>
                <a:cxnLst/>
                <a:rect r="r" b="b" t="t" l="l"/>
                <a:pathLst>
                  <a:path h="507729" w="493064">
                    <a:moveTo>
                      <a:pt x="210906" y="0"/>
                    </a:moveTo>
                    <a:lnTo>
                      <a:pt x="282158" y="0"/>
                    </a:lnTo>
                    <a:cubicBezTo>
                      <a:pt x="338094" y="0"/>
                      <a:pt x="391739" y="22220"/>
                      <a:pt x="431291" y="61773"/>
                    </a:cubicBezTo>
                    <a:cubicBezTo>
                      <a:pt x="470844" y="101325"/>
                      <a:pt x="493064" y="154970"/>
                      <a:pt x="493064" y="210906"/>
                    </a:cubicBezTo>
                    <a:lnTo>
                      <a:pt x="493064" y="296823"/>
                    </a:lnTo>
                    <a:cubicBezTo>
                      <a:pt x="493064" y="413303"/>
                      <a:pt x="398639" y="507729"/>
                      <a:pt x="282158" y="507729"/>
                    </a:cubicBezTo>
                    <a:lnTo>
                      <a:pt x="210906" y="507729"/>
                    </a:lnTo>
                    <a:cubicBezTo>
                      <a:pt x="154970" y="507729"/>
                      <a:pt x="101325" y="485508"/>
                      <a:pt x="61773" y="445956"/>
                    </a:cubicBezTo>
                    <a:cubicBezTo>
                      <a:pt x="22220" y="406403"/>
                      <a:pt x="0" y="352759"/>
                      <a:pt x="0" y="296823"/>
                    </a:cubicBezTo>
                    <a:lnTo>
                      <a:pt x="0" y="210906"/>
                    </a:lnTo>
                    <a:cubicBezTo>
                      <a:pt x="0" y="154970"/>
                      <a:pt x="22220" y="101325"/>
                      <a:pt x="61773" y="61773"/>
                    </a:cubicBezTo>
                    <a:cubicBezTo>
                      <a:pt x="101325" y="22220"/>
                      <a:pt x="154970" y="0"/>
                      <a:pt x="21090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493064" cy="5458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3575909" y="1667176"/>
              <a:ext cx="1729961" cy="1784023"/>
            </a:xfrm>
            <a:custGeom>
              <a:avLst/>
              <a:gdLst/>
              <a:ahLst/>
              <a:cxnLst/>
              <a:rect r="r" b="b" t="t" l="l"/>
              <a:pathLst>
                <a:path h="1784023" w="1729961">
                  <a:moveTo>
                    <a:pt x="0" y="0"/>
                  </a:moveTo>
                  <a:lnTo>
                    <a:pt x="1729961" y="0"/>
                  </a:lnTo>
                  <a:lnTo>
                    <a:pt x="1729961" y="1784023"/>
                  </a:lnTo>
                  <a:lnTo>
                    <a:pt x="0" y="1784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532380" y="1139489"/>
              <a:ext cx="1828602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Framework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396439" y="1849237"/>
            <a:ext cx="4037768" cy="5762787"/>
            <a:chOff x="0" y="0"/>
            <a:chExt cx="1144272" cy="16331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44272" cy="1633128"/>
            </a:xfrm>
            <a:custGeom>
              <a:avLst/>
              <a:gdLst/>
              <a:ahLst/>
              <a:cxnLst/>
              <a:rect r="r" b="b" t="t" l="l"/>
              <a:pathLst>
                <a:path h="1633128" w="1144272">
                  <a:moveTo>
                    <a:pt x="97786" y="0"/>
                  </a:moveTo>
                  <a:lnTo>
                    <a:pt x="1046485" y="0"/>
                  </a:lnTo>
                  <a:cubicBezTo>
                    <a:pt x="1100491" y="0"/>
                    <a:pt x="1144272" y="43780"/>
                    <a:pt x="1144272" y="97786"/>
                  </a:cubicBezTo>
                  <a:lnTo>
                    <a:pt x="1144272" y="1535342"/>
                  </a:lnTo>
                  <a:cubicBezTo>
                    <a:pt x="1144272" y="1589348"/>
                    <a:pt x="1100491" y="1633128"/>
                    <a:pt x="1046485" y="1633128"/>
                  </a:cubicBezTo>
                  <a:lnTo>
                    <a:pt x="97786" y="1633128"/>
                  </a:lnTo>
                  <a:cubicBezTo>
                    <a:pt x="43780" y="1633128"/>
                    <a:pt x="0" y="1589348"/>
                    <a:pt x="0" y="1535342"/>
                  </a:cubicBezTo>
                  <a:lnTo>
                    <a:pt x="0" y="97786"/>
                  </a:lnTo>
                  <a:cubicBezTo>
                    <a:pt x="0" y="43780"/>
                    <a:pt x="43780" y="0"/>
                    <a:pt x="977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144272" cy="1671228"/>
            </a:xfrm>
            <a:prstGeom prst="rect">
              <a:avLst/>
            </a:prstGeom>
          </p:spPr>
          <p:txBody>
            <a:bodyPr anchor="ctr" rtlCol="false" tIns="47212" lIns="47212" bIns="47212" rIns="47212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8809196" y="2472823"/>
            <a:ext cx="1207148" cy="1207148"/>
          </a:xfrm>
          <a:custGeom>
            <a:avLst/>
            <a:gdLst/>
            <a:ahLst/>
            <a:cxnLst/>
            <a:rect r="r" b="b" t="t" l="l"/>
            <a:pathLst>
              <a:path h="1207148" w="1207148">
                <a:moveTo>
                  <a:pt x="0" y="0"/>
                </a:moveTo>
                <a:lnTo>
                  <a:pt x="1207148" y="0"/>
                </a:lnTo>
                <a:lnTo>
                  <a:pt x="1207148" y="1207147"/>
                </a:lnTo>
                <a:lnTo>
                  <a:pt x="0" y="1207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8809196" y="3764958"/>
            <a:ext cx="1207148" cy="32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2"/>
              </a:lnSpc>
              <a:spcBef>
                <a:spcPct val="0"/>
              </a:spcBef>
            </a:pPr>
            <a:r>
              <a:rPr lang="en-US" sz="1858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Next.JS 15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542837" y="2398180"/>
            <a:ext cx="1739866" cy="1791612"/>
            <a:chOff x="0" y="0"/>
            <a:chExt cx="493064" cy="50772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3064" cy="507729"/>
            </a:xfrm>
            <a:custGeom>
              <a:avLst/>
              <a:gdLst/>
              <a:ahLst/>
              <a:cxnLst/>
              <a:rect r="r" b="b" t="t" l="l"/>
              <a:pathLst>
                <a:path h="507729" w="493064">
                  <a:moveTo>
                    <a:pt x="226936" y="0"/>
                  </a:moveTo>
                  <a:lnTo>
                    <a:pt x="266129" y="0"/>
                  </a:lnTo>
                  <a:cubicBezTo>
                    <a:pt x="391462" y="0"/>
                    <a:pt x="493064" y="101603"/>
                    <a:pt x="493064" y="226936"/>
                  </a:cubicBezTo>
                  <a:lnTo>
                    <a:pt x="493064" y="280793"/>
                  </a:lnTo>
                  <a:cubicBezTo>
                    <a:pt x="493064" y="406126"/>
                    <a:pt x="391462" y="507729"/>
                    <a:pt x="266129" y="507729"/>
                  </a:cubicBezTo>
                  <a:lnTo>
                    <a:pt x="226936" y="507729"/>
                  </a:lnTo>
                  <a:cubicBezTo>
                    <a:pt x="101603" y="507729"/>
                    <a:pt x="0" y="406126"/>
                    <a:pt x="0" y="280793"/>
                  </a:cubicBezTo>
                  <a:lnTo>
                    <a:pt x="0" y="226936"/>
                  </a:lnTo>
                  <a:cubicBezTo>
                    <a:pt x="0" y="101603"/>
                    <a:pt x="101603" y="0"/>
                    <a:pt x="2269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93064" cy="545829"/>
            </a:xfrm>
            <a:prstGeom prst="rect">
              <a:avLst/>
            </a:prstGeom>
          </p:spPr>
          <p:txBody>
            <a:bodyPr anchor="ctr" rtlCol="false" tIns="47212" lIns="47212" bIns="47212" rIns="47212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542837" y="5090591"/>
            <a:ext cx="1739866" cy="1791612"/>
            <a:chOff x="0" y="0"/>
            <a:chExt cx="493064" cy="50772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93064" cy="507729"/>
            </a:xfrm>
            <a:custGeom>
              <a:avLst/>
              <a:gdLst/>
              <a:ahLst/>
              <a:cxnLst/>
              <a:rect r="r" b="b" t="t" l="l"/>
              <a:pathLst>
                <a:path h="507729" w="493064">
                  <a:moveTo>
                    <a:pt x="226936" y="0"/>
                  </a:moveTo>
                  <a:lnTo>
                    <a:pt x="266129" y="0"/>
                  </a:lnTo>
                  <a:cubicBezTo>
                    <a:pt x="391462" y="0"/>
                    <a:pt x="493064" y="101603"/>
                    <a:pt x="493064" y="226936"/>
                  </a:cubicBezTo>
                  <a:lnTo>
                    <a:pt x="493064" y="280793"/>
                  </a:lnTo>
                  <a:cubicBezTo>
                    <a:pt x="493064" y="406126"/>
                    <a:pt x="391462" y="507729"/>
                    <a:pt x="266129" y="507729"/>
                  </a:cubicBezTo>
                  <a:lnTo>
                    <a:pt x="226936" y="507729"/>
                  </a:lnTo>
                  <a:cubicBezTo>
                    <a:pt x="101603" y="507729"/>
                    <a:pt x="0" y="406126"/>
                    <a:pt x="0" y="280793"/>
                  </a:cubicBezTo>
                  <a:lnTo>
                    <a:pt x="0" y="226936"/>
                  </a:lnTo>
                  <a:cubicBezTo>
                    <a:pt x="0" y="101603"/>
                    <a:pt x="101603" y="0"/>
                    <a:pt x="2269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93064" cy="545829"/>
            </a:xfrm>
            <a:prstGeom prst="rect">
              <a:avLst/>
            </a:prstGeom>
          </p:spPr>
          <p:txBody>
            <a:bodyPr anchor="ctr" rtlCol="false" tIns="47212" lIns="47212" bIns="47212" rIns="47212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49" id="49"/>
          <p:cNvSpPr/>
          <p:nvPr/>
        </p:nvSpPr>
        <p:spPr>
          <a:xfrm flipV="true">
            <a:off x="11415157" y="1892522"/>
            <a:ext cx="2241733" cy="7270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0" id="50"/>
          <p:cNvSpPr/>
          <p:nvPr/>
        </p:nvSpPr>
        <p:spPr>
          <a:xfrm>
            <a:off x="6347526" y="4524207"/>
            <a:ext cx="104891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3125359" y="7883422"/>
            <a:ext cx="1630430" cy="1435869"/>
            <a:chOff x="0" y="0"/>
            <a:chExt cx="462051" cy="40691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2051" cy="406914"/>
            </a:xfrm>
            <a:custGeom>
              <a:avLst/>
              <a:gdLst/>
              <a:ahLst/>
              <a:cxnLst/>
              <a:rect r="r" b="b" t="t" l="l"/>
              <a:pathLst>
                <a:path h="406914" w="462051">
                  <a:moveTo>
                    <a:pt x="203457" y="0"/>
                  </a:moveTo>
                  <a:lnTo>
                    <a:pt x="258594" y="0"/>
                  </a:lnTo>
                  <a:cubicBezTo>
                    <a:pt x="312554" y="0"/>
                    <a:pt x="364304" y="21436"/>
                    <a:pt x="402460" y="59591"/>
                  </a:cubicBezTo>
                  <a:cubicBezTo>
                    <a:pt x="440615" y="97747"/>
                    <a:pt x="462051" y="149497"/>
                    <a:pt x="462051" y="203457"/>
                  </a:cubicBezTo>
                  <a:lnTo>
                    <a:pt x="462051" y="203457"/>
                  </a:lnTo>
                  <a:cubicBezTo>
                    <a:pt x="462051" y="257417"/>
                    <a:pt x="440615" y="309167"/>
                    <a:pt x="402460" y="347323"/>
                  </a:cubicBezTo>
                  <a:cubicBezTo>
                    <a:pt x="364304" y="385478"/>
                    <a:pt x="312554" y="406914"/>
                    <a:pt x="258594" y="406914"/>
                  </a:cubicBezTo>
                  <a:lnTo>
                    <a:pt x="203457" y="406914"/>
                  </a:lnTo>
                  <a:cubicBezTo>
                    <a:pt x="149497" y="406914"/>
                    <a:pt x="97747" y="385478"/>
                    <a:pt x="59591" y="347323"/>
                  </a:cubicBezTo>
                  <a:cubicBezTo>
                    <a:pt x="21436" y="309167"/>
                    <a:pt x="0" y="257417"/>
                    <a:pt x="0" y="203457"/>
                  </a:cubicBezTo>
                  <a:lnTo>
                    <a:pt x="0" y="203457"/>
                  </a:lnTo>
                  <a:cubicBezTo>
                    <a:pt x="0" y="149497"/>
                    <a:pt x="21436" y="97747"/>
                    <a:pt x="59591" y="59591"/>
                  </a:cubicBezTo>
                  <a:cubicBezTo>
                    <a:pt x="97747" y="21436"/>
                    <a:pt x="149497" y="0"/>
                    <a:pt x="20345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62051" cy="445014"/>
            </a:xfrm>
            <a:prstGeom prst="rect">
              <a:avLst/>
            </a:prstGeom>
          </p:spPr>
          <p:txBody>
            <a:bodyPr anchor="ctr" rtlCol="false" tIns="47212" lIns="47212" bIns="47212" rIns="47212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12778470" y="3540210"/>
            <a:ext cx="1576995" cy="761442"/>
          </a:xfrm>
          <a:custGeom>
            <a:avLst/>
            <a:gdLst/>
            <a:ahLst/>
            <a:cxnLst/>
            <a:rect r="r" b="b" t="t" l="l"/>
            <a:pathLst>
              <a:path h="761442" w="1576995">
                <a:moveTo>
                  <a:pt x="0" y="0"/>
                </a:moveTo>
                <a:lnTo>
                  <a:pt x="1576995" y="0"/>
                </a:lnTo>
                <a:lnTo>
                  <a:pt x="1576995" y="761442"/>
                </a:lnTo>
                <a:lnTo>
                  <a:pt x="0" y="7614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8355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8359377" y="5164631"/>
            <a:ext cx="2142332" cy="1453557"/>
            <a:chOff x="0" y="0"/>
            <a:chExt cx="2856443" cy="193807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564496" y="0"/>
              <a:ext cx="1727452" cy="1727452"/>
            </a:xfrm>
            <a:custGeom>
              <a:avLst/>
              <a:gdLst/>
              <a:ahLst/>
              <a:cxnLst/>
              <a:rect r="r" b="b" t="t" l="l"/>
              <a:pathLst>
                <a:path h="1727452" w="1727452">
                  <a:moveTo>
                    <a:pt x="0" y="0"/>
                  </a:moveTo>
                  <a:lnTo>
                    <a:pt x="1727452" y="0"/>
                  </a:lnTo>
                  <a:lnTo>
                    <a:pt x="1727452" y="1727452"/>
                  </a:lnTo>
                  <a:lnTo>
                    <a:pt x="0" y="1727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 rot="0">
              <a:off x="0" y="1225690"/>
              <a:ext cx="2856443" cy="712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82"/>
                </a:lnSpc>
              </a:pPr>
              <a:r>
                <a:rPr lang="en-US" sz="1558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Kinde </a:t>
              </a:r>
            </a:p>
            <a:p>
              <a:pPr algn="ctr">
                <a:lnSpc>
                  <a:spcPts val="2182"/>
                </a:lnSpc>
                <a:spcBef>
                  <a:spcPct val="0"/>
                </a:spcBef>
              </a:pPr>
              <a:r>
                <a:rPr lang="en-US" sz="1558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Authorization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481957" y="6263417"/>
            <a:ext cx="4487674" cy="3491520"/>
            <a:chOff x="0" y="0"/>
            <a:chExt cx="1181939" cy="91957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81939" cy="919577"/>
            </a:xfrm>
            <a:custGeom>
              <a:avLst/>
              <a:gdLst/>
              <a:ahLst/>
              <a:cxnLst/>
              <a:rect r="r" b="b" t="t" l="l"/>
              <a:pathLst>
                <a:path h="919577" w="1181939">
                  <a:moveTo>
                    <a:pt x="87983" y="0"/>
                  </a:moveTo>
                  <a:lnTo>
                    <a:pt x="1093956" y="0"/>
                  </a:lnTo>
                  <a:cubicBezTo>
                    <a:pt x="1142548" y="0"/>
                    <a:pt x="1181939" y="39391"/>
                    <a:pt x="1181939" y="87983"/>
                  </a:cubicBezTo>
                  <a:lnTo>
                    <a:pt x="1181939" y="831595"/>
                  </a:lnTo>
                  <a:cubicBezTo>
                    <a:pt x="1181939" y="880186"/>
                    <a:pt x="1142548" y="919577"/>
                    <a:pt x="1093956" y="919577"/>
                  </a:cubicBezTo>
                  <a:lnTo>
                    <a:pt x="87983" y="919577"/>
                  </a:lnTo>
                  <a:cubicBezTo>
                    <a:pt x="39391" y="919577"/>
                    <a:pt x="0" y="880186"/>
                    <a:pt x="0" y="831595"/>
                  </a:cubicBezTo>
                  <a:lnTo>
                    <a:pt x="0" y="87983"/>
                  </a:lnTo>
                  <a:cubicBezTo>
                    <a:pt x="0" y="39391"/>
                    <a:pt x="39391" y="0"/>
                    <a:pt x="879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181939" cy="957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630916" y="7095549"/>
            <a:ext cx="1872104" cy="1927783"/>
            <a:chOff x="0" y="0"/>
            <a:chExt cx="493064" cy="50772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93064" cy="507729"/>
            </a:xfrm>
            <a:custGeom>
              <a:avLst/>
              <a:gdLst/>
              <a:ahLst/>
              <a:cxnLst/>
              <a:rect r="r" b="b" t="t" l="l"/>
              <a:pathLst>
                <a:path h="507729" w="493064">
                  <a:moveTo>
                    <a:pt x="210906" y="0"/>
                  </a:moveTo>
                  <a:lnTo>
                    <a:pt x="282158" y="0"/>
                  </a:lnTo>
                  <a:cubicBezTo>
                    <a:pt x="338094" y="0"/>
                    <a:pt x="391739" y="22220"/>
                    <a:pt x="431291" y="61773"/>
                  </a:cubicBezTo>
                  <a:cubicBezTo>
                    <a:pt x="470844" y="101325"/>
                    <a:pt x="493064" y="154970"/>
                    <a:pt x="493064" y="210906"/>
                  </a:cubicBezTo>
                  <a:lnTo>
                    <a:pt x="493064" y="296823"/>
                  </a:lnTo>
                  <a:cubicBezTo>
                    <a:pt x="493064" y="413303"/>
                    <a:pt x="398639" y="507729"/>
                    <a:pt x="282158" y="507729"/>
                  </a:cubicBezTo>
                  <a:lnTo>
                    <a:pt x="210906" y="507729"/>
                  </a:lnTo>
                  <a:cubicBezTo>
                    <a:pt x="154970" y="507729"/>
                    <a:pt x="101325" y="485508"/>
                    <a:pt x="61773" y="445956"/>
                  </a:cubicBezTo>
                  <a:cubicBezTo>
                    <a:pt x="22220" y="406403"/>
                    <a:pt x="0" y="352759"/>
                    <a:pt x="0" y="296823"/>
                  </a:cubicBezTo>
                  <a:lnTo>
                    <a:pt x="0" y="210906"/>
                  </a:lnTo>
                  <a:cubicBezTo>
                    <a:pt x="0" y="154970"/>
                    <a:pt x="22220" y="101325"/>
                    <a:pt x="61773" y="61773"/>
                  </a:cubicBezTo>
                  <a:cubicBezTo>
                    <a:pt x="101325" y="22220"/>
                    <a:pt x="154970" y="0"/>
                    <a:pt x="2109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93064" cy="54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826870" y="7098922"/>
            <a:ext cx="1872104" cy="1927783"/>
            <a:chOff x="0" y="0"/>
            <a:chExt cx="493064" cy="50772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93064" cy="507729"/>
            </a:xfrm>
            <a:custGeom>
              <a:avLst/>
              <a:gdLst/>
              <a:ahLst/>
              <a:cxnLst/>
              <a:rect r="r" b="b" t="t" l="l"/>
              <a:pathLst>
                <a:path h="507729" w="493064">
                  <a:moveTo>
                    <a:pt x="210906" y="0"/>
                  </a:moveTo>
                  <a:lnTo>
                    <a:pt x="282158" y="0"/>
                  </a:lnTo>
                  <a:cubicBezTo>
                    <a:pt x="338094" y="0"/>
                    <a:pt x="391739" y="22220"/>
                    <a:pt x="431291" y="61773"/>
                  </a:cubicBezTo>
                  <a:cubicBezTo>
                    <a:pt x="470844" y="101325"/>
                    <a:pt x="493064" y="154970"/>
                    <a:pt x="493064" y="210906"/>
                  </a:cubicBezTo>
                  <a:lnTo>
                    <a:pt x="493064" y="296823"/>
                  </a:lnTo>
                  <a:cubicBezTo>
                    <a:pt x="493064" y="413303"/>
                    <a:pt x="398639" y="507729"/>
                    <a:pt x="282158" y="507729"/>
                  </a:cubicBezTo>
                  <a:lnTo>
                    <a:pt x="210906" y="507729"/>
                  </a:lnTo>
                  <a:cubicBezTo>
                    <a:pt x="154970" y="507729"/>
                    <a:pt x="101325" y="485508"/>
                    <a:pt x="61773" y="445956"/>
                  </a:cubicBezTo>
                  <a:cubicBezTo>
                    <a:pt x="22220" y="406403"/>
                    <a:pt x="0" y="352759"/>
                    <a:pt x="0" y="296823"/>
                  </a:cubicBezTo>
                  <a:lnTo>
                    <a:pt x="0" y="210906"/>
                  </a:lnTo>
                  <a:cubicBezTo>
                    <a:pt x="0" y="154970"/>
                    <a:pt x="22220" y="101325"/>
                    <a:pt x="61773" y="61773"/>
                  </a:cubicBezTo>
                  <a:cubicBezTo>
                    <a:pt x="101325" y="22220"/>
                    <a:pt x="154970" y="0"/>
                    <a:pt x="2109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493064" cy="54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67" id="67"/>
          <p:cNvSpPr/>
          <p:nvPr/>
        </p:nvSpPr>
        <p:spPr>
          <a:xfrm>
            <a:off x="11415157" y="5784472"/>
            <a:ext cx="1996182" cy="4789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68" id="68"/>
          <p:cNvSpPr/>
          <p:nvPr/>
        </p:nvSpPr>
        <p:spPr>
          <a:xfrm flipH="false" flipV="false" rot="0">
            <a:off x="12994553" y="7373541"/>
            <a:ext cx="1144829" cy="1019763"/>
          </a:xfrm>
          <a:custGeom>
            <a:avLst/>
            <a:gdLst/>
            <a:ahLst/>
            <a:cxnLst/>
            <a:rect r="r" b="b" t="t" l="l"/>
            <a:pathLst>
              <a:path h="1019763" w="1144829">
                <a:moveTo>
                  <a:pt x="0" y="0"/>
                </a:moveTo>
                <a:lnTo>
                  <a:pt x="1144829" y="0"/>
                </a:lnTo>
                <a:lnTo>
                  <a:pt x="1144829" y="1019763"/>
                </a:lnTo>
                <a:lnTo>
                  <a:pt x="0" y="101976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5157543" y="7230263"/>
            <a:ext cx="1210758" cy="1210758"/>
          </a:xfrm>
          <a:custGeom>
            <a:avLst/>
            <a:gdLst/>
            <a:ahLst/>
            <a:cxnLst/>
            <a:rect r="r" b="b" t="t" l="l"/>
            <a:pathLst>
              <a:path h="1210758" w="1210758">
                <a:moveTo>
                  <a:pt x="0" y="0"/>
                </a:moveTo>
                <a:lnTo>
                  <a:pt x="1210757" y="0"/>
                </a:lnTo>
                <a:lnTo>
                  <a:pt x="1210757" y="1210758"/>
                </a:lnTo>
                <a:lnTo>
                  <a:pt x="0" y="121075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13904152" y="1349597"/>
            <a:ext cx="164328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Database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378870" y="3970702"/>
            <a:ext cx="959775" cy="30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176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React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288843" y="1982424"/>
            <a:ext cx="1211598" cy="33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  <a:spcBef>
                <a:spcPct val="0"/>
              </a:spcBef>
            </a:pPr>
            <a:r>
              <a:rPr lang="en-US" sz="1943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Framework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918820" y="7463958"/>
            <a:ext cx="2128684" cy="33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  <a:spcBef>
                <a:spcPct val="0"/>
              </a:spcBef>
            </a:pPr>
            <a:r>
              <a:rPr lang="en-US" sz="1943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State Management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478132" y="5263466"/>
            <a:ext cx="3010061" cy="33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  <a:spcBef>
                <a:spcPct val="0"/>
              </a:spcBef>
            </a:pPr>
            <a:r>
              <a:rPr lang="en-US" sz="1943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User Interface Components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3087259" y="1448457"/>
            <a:ext cx="1542996" cy="42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3"/>
              </a:lnSpc>
              <a:spcBef>
                <a:spcPct val="0"/>
              </a:spcBef>
            </a:pPr>
            <a:r>
              <a:rPr lang="en-US" b="true" sz="2473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Client Side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344471" y="155048"/>
            <a:ext cx="724130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System Architecture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328937" y="1379240"/>
            <a:ext cx="2172773" cy="451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02" b="true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Server Side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7900191" y="9654742"/>
            <a:ext cx="26089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837477" y="5717797"/>
            <a:ext cx="164328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Azure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881242" y="7106127"/>
            <a:ext cx="1371451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81" id="81"/>
          <p:cNvSpPr txBox="true"/>
          <p:nvPr/>
        </p:nvSpPr>
        <p:spPr>
          <a:xfrm rot="0">
            <a:off x="12778470" y="8393396"/>
            <a:ext cx="1581915" cy="36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1"/>
              </a:lnSpc>
              <a:spcBef>
                <a:spcPct val="0"/>
              </a:spcBef>
            </a:pPr>
            <a:r>
              <a:rPr lang="en-US" sz="217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Blob Storage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4971917" y="8393396"/>
            <a:ext cx="1641650" cy="36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1"/>
              </a:lnSpc>
              <a:spcBef>
                <a:spcPct val="0"/>
              </a:spcBef>
            </a:pPr>
            <a:r>
              <a:rPr lang="en-US" sz="217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Email Service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73789" y="2746173"/>
            <a:ext cx="2754769" cy="3421973"/>
            <a:chOff x="0" y="0"/>
            <a:chExt cx="3673025" cy="4562630"/>
          </a:xfrm>
        </p:grpSpPr>
        <p:grpSp>
          <p:nvGrpSpPr>
            <p:cNvPr name="Group 3" id="3"/>
            <p:cNvGrpSpPr/>
            <p:nvPr/>
          </p:nvGrpSpPr>
          <p:grpSpPr>
            <a:xfrm rot="-5400000">
              <a:off x="261606" y="1151211"/>
              <a:ext cx="4562630" cy="2260208"/>
              <a:chOff x="0" y="0"/>
              <a:chExt cx="653128" cy="3235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53128" cy="323543"/>
              </a:xfrm>
              <a:custGeom>
                <a:avLst/>
                <a:gdLst/>
                <a:ahLst/>
                <a:cxnLst/>
                <a:rect r="r" b="b" t="t" l="l"/>
                <a:pathLst>
                  <a:path h="323543" w="653128">
                    <a:moveTo>
                      <a:pt x="217827" y="304474"/>
                    </a:moveTo>
                    <a:cubicBezTo>
                      <a:pt x="251311" y="315987"/>
                      <a:pt x="289378" y="323543"/>
                      <a:pt x="326740" y="323543"/>
                    </a:cubicBezTo>
                    <a:cubicBezTo>
                      <a:pt x="364103" y="323543"/>
                      <a:pt x="400055" y="317066"/>
                      <a:pt x="433186" y="305552"/>
                    </a:cubicBezTo>
                    <a:cubicBezTo>
                      <a:pt x="433892" y="305192"/>
                      <a:pt x="434596" y="305192"/>
                      <a:pt x="435301" y="304833"/>
                    </a:cubicBezTo>
                    <a:cubicBezTo>
                      <a:pt x="559723" y="258778"/>
                      <a:pt x="651366" y="137164"/>
                      <a:pt x="653128" y="5908"/>
                    </a:cubicBezTo>
                    <a:lnTo>
                      <a:pt x="653128" y="0"/>
                    </a:lnTo>
                    <a:lnTo>
                      <a:pt x="0" y="0"/>
                    </a:lnTo>
                    <a:lnTo>
                      <a:pt x="0" y="5904"/>
                    </a:lnTo>
                    <a:cubicBezTo>
                      <a:pt x="1762" y="137883"/>
                      <a:pt x="91995" y="259498"/>
                      <a:pt x="217827" y="30447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653128" cy="2536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01600"/>
              <a:ext cx="1526374" cy="4355580"/>
              <a:chOff x="0" y="0"/>
              <a:chExt cx="301506" cy="86036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01506" cy="860362"/>
              </a:xfrm>
              <a:custGeom>
                <a:avLst/>
                <a:gdLst/>
                <a:ahLst/>
                <a:cxnLst/>
                <a:rect r="r" b="b" t="t" l="l"/>
                <a:pathLst>
                  <a:path h="860362" w="301506">
                    <a:moveTo>
                      <a:pt x="0" y="0"/>
                    </a:moveTo>
                    <a:lnTo>
                      <a:pt x="301506" y="0"/>
                    </a:lnTo>
                    <a:lnTo>
                      <a:pt x="301506" y="860362"/>
                    </a:lnTo>
                    <a:lnTo>
                      <a:pt x="0" y="860362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57150"/>
                <a:ext cx="301506" cy="917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2925147" y="2822373"/>
            <a:ext cx="2653673" cy="3280781"/>
            <a:chOff x="0" y="0"/>
            <a:chExt cx="698910" cy="8640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910" cy="864074"/>
            </a:xfrm>
            <a:custGeom>
              <a:avLst/>
              <a:gdLst/>
              <a:ahLst/>
              <a:cxnLst/>
              <a:rect r="r" b="b" t="t" l="l"/>
              <a:pathLst>
                <a:path h="864074" w="698910">
                  <a:moveTo>
                    <a:pt x="0" y="0"/>
                  </a:moveTo>
                  <a:lnTo>
                    <a:pt x="698910" y="0"/>
                  </a:lnTo>
                  <a:lnTo>
                    <a:pt x="698910" y="864074"/>
                  </a:lnTo>
                  <a:lnTo>
                    <a:pt x="0" y="864074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698910" cy="921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1028700" y="2746173"/>
            <a:ext cx="14614227" cy="0"/>
          </a:xfrm>
          <a:prstGeom prst="line">
            <a:avLst/>
          </a:prstGeom>
          <a:ln cap="flat" w="762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894540" y="8149132"/>
            <a:ext cx="3151914" cy="2729572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8700" y="6091946"/>
            <a:ext cx="2756361" cy="3421973"/>
            <a:chOff x="0" y="0"/>
            <a:chExt cx="3675148" cy="4562630"/>
          </a:xfrm>
        </p:grpSpPr>
        <p:grpSp>
          <p:nvGrpSpPr>
            <p:cNvPr name="Group 16" id="16"/>
            <p:cNvGrpSpPr/>
            <p:nvPr/>
          </p:nvGrpSpPr>
          <p:grpSpPr>
            <a:xfrm rot="5400000">
              <a:off x="-1151211" y="1151211"/>
              <a:ext cx="4562630" cy="2260208"/>
              <a:chOff x="0" y="0"/>
              <a:chExt cx="653128" cy="32354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53128" cy="323543"/>
              </a:xfrm>
              <a:custGeom>
                <a:avLst/>
                <a:gdLst/>
                <a:ahLst/>
                <a:cxnLst/>
                <a:rect r="r" b="b" t="t" l="l"/>
                <a:pathLst>
                  <a:path h="323543" w="653128">
                    <a:moveTo>
                      <a:pt x="217827" y="304474"/>
                    </a:moveTo>
                    <a:cubicBezTo>
                      <a:pt x="251311" y="315987"/>
                      <a:pt x="289378" y="323543"/>
                      <a:pt x="326740" y="323543"/>
                    </a:cubicBezTo>
                    <a:cubicBezTo>
                      <a:pt x="364103" y="323543"/>
                      <a:pt x="400055" y="317066"/>
                      <a:pt x="433186" y="305552"/>
                    </a:cubicBezTo>
                    <a:cubicBezTo>
                      <a:pt x="433892" y="305192"/>
                      <a:pt x="434596" y="305192"/>
                      <a:pt x="435301" y="304833"/>
                    </a:cubicBezTo>
                    <a:cubicBezTo>
                      <a:pt x="559723" y="258778"/>
                      <a:pt x="651366" y="137164"/>
                      <a:pt x="653128" y="5908"/>
                    </a:cubicBezTo>
                    <a:lnTo>
                      <a:pt x="653128" y="0"/>
                    </a:lnTo>
                    <a:lnTo>
                      <a:pt x="0" y="0"/>
                    </a:lnTo>
                    <a:lnTo>
                      <a:pt x="0" y="5904"/>
                    </a:lnTo>
                    <a:cubicBezTo>
                      <a:pt x="1762" y="137883"/>
                      <a:pt x="91995" y="259498"/>
                      <a:pt x="217827" y="30447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653128" cy="2536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2148775" y="101600"/>
              <a:ext cx="1526374" cy="4355580"/>
              <a:chOff x="0" y="0"/>
              <a:chExt cx="301506" cy="86036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01506" cy="860362"/>
              </a:xfrm>
              <a:custGeom>
                <a:avLst/>
                <a:gdLst/>
                <a:ahLst/>
                <a:cxnLst/>
                <a:rect r="r" b="b" t="t" l="l"/>
                <a:pathLst>
                  <a:path h="860362" w="301506">
                    <a:moveTo>
                      <a:pt x="0" y="0"/>
                    </a:moveTo>
                    <a:lnTo>
                      <a:pt x="301506" y="0"/>
                    </a:lnTo>
                    <a:lnTo>
                      <a:pt x="301506" y="860362"/>
                    </a:lnTo>
                    <a:lnTo>
                      <a:pt x="0" y="860362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301506" cy="917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</p:grpSp>
      <p:sp>
        <p:nvSpPr>
          <p:cNvPr name="AutoShape 22" id="22"/>
          <p:cNvSpPr/>
          <p:nvPr/>
        </p:nvSpPr>
        <p:spPr>
          <a:xfrm rot="-11689">
            <a:off x="2720724" y="9413073"/>
            <a:ext cx="14495856" cy="0"/>
          </a:xfrm>
          <a:prstGeom prst="line">
            <a:avLst/>
          </a:prstGeom>
          <a:ln cap="flat" w="762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0">
            <a:off x="2720636" y="6091946"/>
            <a:ext cx="12922291" cy="0"/>
          </a:xfrm>
          <a:prstGeom prst="line">
            <a:avLst/>
          </a:prstGeom>
          <a:ln cap="flat" w="762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5400000">
            <a:off x="2224899" y="3161554"/>
            <a:ext cx="830763" cy="0"/>
          </a:xfrm>
          <a:prstGeom prst="line">
            <a:avLst/>
          </a:prstGeom>
          <a:ln cap="flat" w="7620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5" id="25"/>
          <p:cNvSpPr/>
          <p:nvPr/>
        </p:nvSpPr>
        <p:spPr>
          <a:xfrm rot="5400000">
            <a:off x="6002871" y="3161554"/>
            <a:ext cx="830763" cy="0"/>
          </a:xfrm>
          <a:prstGeom prst="line">
            <a:avLst/>
          </a:prstGeom>
          <a:ln cap="flat" w="7620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6" id="26"/>
          <p:cNvSpPr/>
          <p:nvPr/>
        </p:nvSpPr>
        <p:spPr>
          <a:xfrm rot="5400000">
            <a:off x="9809418" y="3161554"/>
            <a:ext cx="830763" cy="0"/>
          </a:xfrm>
          <a:prstGeom prst="line">
            <a:avLst/>
          </a:prstGeom>
          <a:ln cap="flat" w="7620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7" id="27"/>
          <p:cNvSpPr/>
          <p:nvPr/>
        </p:nvSpPr>
        <p:spPr>
          <a:xfrm rot="5400000">
            <a:off x="13654065" y="3161554"/>
            <a:ext cx="830763" cy="0"/>
          </a:xfrm>
          <a:prstGeom prst="line">
            <a:avLst/>
          </a:prstGeom>
          <a:ln cap="flat" w="7620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8" id="28"/>
          <p:cNvSpPr/>
          <p:nvPr/>
        </p:nvSpPr>
        <p:spPr>
          <a:xfrm flipV="true">
            <a:off x="6503480" y="8644394"/>
            <a:ext cx="19337" cy="830538"/>
          </a:xfrm>
          <a:prstGeom prst="line">
            <a:avLst/>
          </a:prstGeom>
          <a:ln cap="flat" w="7620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9" id="29"/>
          <p:cNvSpPr/>
          <p:nvPr/>
        </p:nvSpPr>
        <p:spPr>
          <a:xfrm flipV="true">
            <a:off x="3102498" y="8683155"/>
            <a:ext cx="0" cy="830763"/>
          </a:xfrm>
          <a:prstGeom prst="line">
            <a:avLst/>
          </a:prstGeom>
          <a:ln cap="flat" w="7620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1028700" y="3922184"/>
            <a:ext cx="3146962" cy="845820"/>
            <a:chOff x="0" y="0"/>
            <a:chExt cx="4195949" cy="1127760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28575"/>
              <a:ext cx="4195949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120">
                  <a:solidFill>
                    <a:srgbClr val="004AAD"/>
                  </a:solidFill>
                  <a:latin typeface="Aileron"/>
                  <a:ea typeface="Aileron"/>
                  <a:cs typeface="Aileron"/>
                  <a:sym typeface="Aileron"/>
                </a:rPr>
                <a:t>July 2024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636270"/>
              <a:ext cx="4195949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First meeting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806672" y="3922184"/>
            <a:ext cx="3146962" cy="1645920"/>
            <a:chOff x="0" y="0"/>
            <a:chExt cx="4195949" cy="2194560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28575"/>
              <a:ext cx="4195949" cy="1029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120">
                  <a:solidFill>
                    <a:srgbClr val="004AAD"/>
                  </a:solidFill>
                  <a:latin typeface="Aileron"/>
                  <a:ea typeface="Aileron"/>
                  <a:cs typeface="Aileron"/>
                  <a:sym typeface="Aileron"/>
                </a:rPr>
                <a:t>July - September 2024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1156970"/>
              <a:ext cx="4195949" cy="1037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Research &amp; prototype development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84644" y="3922184"/>
            <a:ext cx="3280312" cy="845820"/>
            <a:chOff x="0" y="0"/>
            <a:chExt cx="4373749" cy="1127760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-28575"/>
              <a:ext cx="4373749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120">
                  <a:solidFill>
                    <a:srgbClr val="004AAD"/>
                  </a:solidFill>
                  <a:latin typeface="Aileron"/>
                  <a:ea typeface="Aileron"/>
                  <a:cs typeface="Aileron"/>
                  <a:sym typeface="Aileron"/>
                </a:rPr>
                <a:t>September 8th, 2024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636270"/>
              <a:ext cx="4373749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Presenting Phase 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495966" y="3922184"/>
            <a:ext cx="3146962" cy="845820"/>
            <a:chOff x="0" y="0"/>
            <a:chExt cx="4195949" cy="1127760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0" y="-28575"/>
              <a:ext cx="4195949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120">
                  <a:solidFill>
                    <a:srgbClr val="004AAD"/>
                  </a:solidFill>
                  <a:latin typeface="Aileron"/>
                  <a:ea typeface="Aileron"/>
                  <a:cs typeface="Aileron"/>
                  <a:sym typeface="Aileron"/>
                </a:rPr>
                <a:t>October 2024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636270"/>
              <a:ext cx="4195949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Second meeting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871697" y="6779431"/>
            <a:ext cx="3146962" cy="1255395"/>
            <a:chOff x="0" y="0"/>
            <a:chExt cx="4195949" cy="1673860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0" y="-28575"/>
              <a:ext cx="4195949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120">
                  <a:solidFill>
                    <a:srgbClr val="004AAD"/>
                  </a:solidFill>
                  <a:latin typeface="Aileron"/>
                  <a:ea typeface="Aileron"/>
                  <a:cs typeface="Aileron"/>
                  <a:sym typeface="Aileron"/>
                </a:rPr>
                <a:t>April 6th 2025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636270"/>
              <a:ext cx="4195949" cy="1037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Delivering Final version to the council 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653751" y="6779431"/>
            <a:ext cx="3146962" cy="845820"/>
            <a:chOff x="0" y="0"/>
            <a:chExt cx="4195949" cy="1127760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-28575"/>
              <a:ext cx="4195949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120">
                  <a:solidFill>
                    <a:srgbClr val="004AAD"/>
                  </a:solidFill>
                  <a:latin typeface="Aileron"/>
                  <a:ea typeface="Aileron"/>
                  <a:cs typeface="Aileron"/>
                  <a:sym typeface="Aileron"/>
                </a:rPr>
                <a:t>March 18th 2025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636270"/>
              <a:ext cx="4195949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Presenting Phase II 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455142" y="6760381"/>
            <a:ext cx="3146962" cy="1236345"/>
            <a:chOff x="0" y="0"/>
            <a:chExt cx="4195949" cy="1648460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0" y="-28575"/>
              <a:ext cx="4195949" cy="1029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120">
                  <a:solidFill>
                    <a:srgbClr val="004AAD"/>
                  </a:solidFill>
                  <a:latin typeface="Aileron"/>
                  <a:ea typeface="Aileron"/>
                  <a:cs typeface="Aileron"/>
                  <a:sym typeface="Aileron"/>
                </a:rPr>
                <a:t>February - March 2025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0" y="1156970"/>
              <a:ext cx="4195949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Second sprint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028700" y="624315"/>
            <a:ext cx="5580670" cy="162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4999" spc="149" b="true">
                <a:solidFill>
                  <a:srgbClr val="0D47A1"/>
                </a:solidFill>
                <a:latin typeface="Aileron Heavy"/>
                <a:ea typeface="Aileron Heavy"/>
                <a:cs typeface="Aileron Heavy"/>
                <a:sym typeface="Aileron Heavy"/>
              </a:rPr>
              <a:t>Working Flow Timeline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4771229" y="6760381"/>
            <a:ext cx="3388323" cy="1664970"/>
            <a:chOff x="0" y="0"/>
            <a:chExt cx="4517764" cy="2219960"/>
          </a:xfrm>
        </p:grpSpPr>
        <p:sp>
          <p:nvSpPr>
            <p:cNvPr name="TextBox 53" id="53"/>
            <p:cNvSpPr txBox="true"/>
            <p:nvPr/>
          </p:nvSpPr>
          <p:spPr>
            <a:xfrm rot="0">
              <a:off x="0" y="-28575"/>
              <a:ext cx="4517764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120">
                  <a:solidFill>
                    <a:srgbClr val="004AAD"/>
                  </a:solidFill>
                  <a:latin typeface="Aileron"/>
                  <a:ea typeface="Aileron"/>
                  <a:cs typeface="Aileron"/>
                  <a:sym typeface="Aileron"/>
                </a:rPr>
                <a:t>February 25th 2025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0" y="636270"/>
              <a:ext cx="4517764" cy="1583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Presenting Alpha Phase to Council’s stuff, including hands-on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90917" y="6779431"/>
            <a:ext cx="3146962" cy="1645920"/>
            <a:chOff x="0" y="0"/>
            <a:chExt cx="4195949" cy="2194560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0" y="-28575"/>
              <a:ext cx="4195949" cy="1029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120">
                  <a:solidFill>
                    <a:srgbClr val="004AAD"/>
                  </a:solidFill>
                  <a:latin typeface="Aileron"/>
                  <a:ea typeface="Aileron"/>
                  <a:cs typeface="Aileron"/>
                  <a:sym typeface="Aileron"/>
                </a:rPr>
                <a:t>October 2024 - February 2025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0" y="1156970"/>
              <a:ext cx="4195949" cy="1037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First sprint -</a:t>
              </a:r>
            </a:p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Alpha Phase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flipV="true">
            <a:off x="10028623" y="8595102"/>
            <a:ext cx="19337" cy="830538"/>
          </a:xfrm>
          <a:prstGeom prst="line">
            <a:avLst/>
          </a:prstGeom>
          <a:ln cap="flat" w="7620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59" id="59"/>
          <p:cNvSpPr/>
          <p:nvPr/>
        </p:nvSpPr>
        <p:spPr>
          <a:xfrm flipV="true">
            <a:off x="13225174" y="8593328"/>
            <a:ext cx="19337" cy="830538"/>
          </a:xfrm>
          <a:prstGeom prst="line">
            <a:avLst/>
          </a:prstGeom>
          <a:ln cap="flat" w="7620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60" id="60"/>
          <p:cNvSpPr/>
          <p:nvPr/>
        </p:nvSpPr>
        <p:spPr>
          <a:xfrm flipV="true">
            <a:off x="16425841" y="8594215"/>
            <a:ext cx="19337" cy="830538"/>
          </a:xfrm>
          <a:prstGeom prst="line">
            <a:avLst/>
          </a:prstGeom>
          <a:ln cap="flat" w="76200">
            <a:solidFill>
              <a:srgbClr val="004AAD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61" id="61"/>
          <p:cNvGrpSpPr/>
          <p:nvPr/>
        </p:nvGrpSpPr>
        <p:grpSpPr>
          <a:xfrm rot="-10800000">
            <a:off x="15169478" y="-2070692"/>
            <a:ext cx="4985461" cy="4317433"/>
            <a:chOff x="0" y="0"/>
            <a:chExt cx="3619627" cy="313461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-10800000">
            <a:off x="14573789" y="-338591"/>
            <a:ext cx="1798578" cy="1557577"/>
            <a:chOff x="0" y="0"/>
            <a:chExt cx="3619627" cy="313461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2196F3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7879876" y="9605898"/>
            <a:ext cx="27756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47719" y="1974243"/>
            <a:ext cx="2695438" cy="2334501"/>
            <a:chOff x="0" y="0"/>
            <a:chExt cx="6202680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2915828" y="-3678236"/>
            <a:ext cx="12804984" cy="6226137"/>
            <a:chOff x="0" y="0"/>
            <a:chExt cx="11048529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48529" cy="5372100"/>
            </a:xfrm>
            <a:custGeom>
              <a:avLst/>
              <a:gdLst/>
              <a:ahLst/>
              <a:cxnLst/>
              <a:rect r="r" b="b" t="t" l="l"/>
              <a:pathLst>
                <a:path h="5372100" w="11048529">
                  <a:moveTo>
                    <a:pt x="949785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9497859" y="5372100"/>
                  </a:lnTo>
                  <a:lnTo>
                    <a:pt x="11048529" y="2686050"/>
                  </a:lnTo>
                  <a:lnTo>
                    <a:pt x="9497859" y="0"/>
                  </a:ln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5102433" y="6178399"/>
            <a:ext cx="4985461" cy="4317433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14544651" y="9108434"/>
            <a:ext cx="1798578" cy="1557577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2196F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-768794">
            <a:off x="841596" y="4953773"/>
            <a:ext cx="4604655" cy="4604655"/>
          </a:xfrm>
          <a:custGeom>
            <a:avLst/>
            <a:gdLst/>
            <a:ahLst/>
            <a:cxnLst/>
            <a:rect r="r" b="b" t="t" l="l"/>
            <a:pathLst>
              <a:path h="4604655" w="4604655">
                <a:moveTo>
                  <a:pt x="0" y="0"/>
                </a:moveTo>
                <a:lnTo>
                  <a:pt x="4604655" y="0"/>
                </a:lnTo>
                <a:lnTo>
                  <a:pt x="4604655" y="4604655"/>
                </a:lnTo>
                <a:lnTo>
                  <a:pt x="0" y="4604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89371" y="4232544"/>
            <a:ext cx="5967903" cy="26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51"/>
              </a:lnSpc>
              <a:spcBef>
                <a:spcPct val="0"/>
              </a:spcBef>
            </a:pPr>
            <a:r>
              <a:rPr lang="en-US" b="true" sz="7962" spc="-79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System Live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27558" y="9688159"/>
            <a:ext cx="56044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9067" y="8937707"/>
            <a:ext cx="5231327" cy="29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</a:rPr>
              <a:t>Back to Agenda Page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414409" y="7086203"/>
            <a:ext cx="3480308" cy="3013963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602192" y="329554"/>
            <a:ext cx="1798578" cy="1557577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8243897" y="-427624"/>
            <a:ext cx="13031070" cy="11284968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13108687" y="152012"/>
            <a:ext cx="920192" cy="796891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13108687" y="550457"/>
            <a:ext cx="1840384" cy="1593781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2526" y="0"/>
            <a:ext cx="4336638" cy="3755333"/>
            <a:chOff x="0" y="0"/>
            <a:chExt cx="4282440" cy="370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76416" t="0" r="-7641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10800000">
            <a:off x="17049377" y="3201058"/>
            <a:ext cx="1609787" cy="1394083"/>
            <a:chOff x="0" y="0"/>
            <a:chExt cx="3619627" cy="31346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788405" y="4486304"/>
            <a:ext cx="2534121" cy="2241109"/>
            <a:chOff x="0" y="0"/>
            <a:chExt cx="3378828" cy="29881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730558" y="0"/>
              <a:ext cx="1917711" cy="1942433"/>
            </a:xfrm>
            <a:custGeom>
              <a:avLst/>
              <a:gdLst/>
              <a:ahLst/>
              <a:cxnLst/>
              <a:rect r="r" b="b" t="t" l="l"/>
              <a:pathLst>
                <a:path h="1942433" w="1917711">
                  <a:moveTo>
                    <a:pt x="0" y="0"/>
                  </a:moveTo>
                  <a:lnTo>
                    <a:pt x="1917712" y="0"/>
                  </a:lnTo>
                  <a:lnTo>
                    <a:pt x="1917712" y="1942433"/>
                  </a:lnTo>
                  <a:lnTo>
                    <a:pt x="0" y="1942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1913726"/>
              <a:ext cx="3378828" cy="1074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Military reserve service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00786" y="7304997"/>
            <a:ext cx="2575387" cy="1953303"/>
            <a:chOff x="0" y="0"/>
            <a:chExt cx="3433849" cy="26044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764498" y="0"/>
              <a:ext cx="1904854" cy="1298764"/>
            </a:xfrm>
            <a:custGeom>
              <a:avLst/>
              <a:gdLst/>
              <a:ahLst/>
              <a:cxnLst/>
              <a:rect r="r" b="b" t="t" l="l"/>
              <a:pathLst>
                <a:path h="1298764" w="1904854">
                  <a:moveTo>
                    <a:pt x="0" y="0"/>
                  </a:moveTo>
                  <a:lnTo>
                    <a:pt x="1904854" y="0"/>
                  </a:lnTo>
                  <a:lnTo>
                    <a:pt x="1904854" y="1298764"/>
                  </a:lnTo>
                  <a:lnTo>
                    <a:pt x="0" y="1298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1529984"/>
              <a:ext cx="3433849" cy="1074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Storing external</a:t>
              </a:r>
            </a:p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files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00786" y="4486304"/>
            <a:ext cx="2152306" cy="2132272"/>
            <a:chOff x="0" y="0"/>
            <a:chExt cx="2869742" cy="284302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1768610"/>
              <a:ext cx="2869742" cy="1074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Working with</a:t>
              </a:r>
            </a:p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client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658261" y="0"/>
              <a:ext cx="1553221" cy="1652362"/>
            </a:xfrm>
            <a:custGeom>
              <a:avLst/>
              <a:gdLst/>
              <a:ahLst/>
              <a:cxnLst/>
              <a:rect r="r" b="b" t="t" l="l"/>
              <a:pathLst>
                <a:path h="1652362" w="1553221">
                  <a:moveTo>
                    <a:pt x="0" y="0"/>
                  </a:moveTo>
                  <a:lnTo>
                    <a:pt x="1553220" y="0"/>
                  </a:lnTo>
                  <a:lnTo>
                    <a:pt x="1553220" y="1652362"/>
                  </a:lnTo>
                  <a:lnTo>
                    <a:pt x="0" y="1652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4233717" y="1108343"/>
            <a:ext cx="7048209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Challenges and Solutions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742545" y="9687560"/>
            <a:ext cx="45973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788405" y="6861223"/>
            <a:ext cx="2534121" cy="2919507"/>
            <a:chOff x="0" y="0"/>
            <a:chExt cx="3378828" cy="38926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023959" y="0"/>
              <a:ext cx="1330909" cy="2702353"/>
            </a:xfrm>
            <a:custGeom>
              <a:avLst/>
              <a:gdLst/>
              <a:ahLst/>
              <a:cxnLst/>
              <a:rect r="r" b="b" t="t" l="l"/>
              <a:pathLst>
                <a:path h="2702353" w="1330909">
                  <a:moveTo>
                    <a:pt x="0" y="0"/>
                  </a:moveTo>
                  <a:lnTo>
                    <a:pt x="1330909" y="0"/>
                  </a:lnTo>
                  <a:lnTo>
                    <a:pt x="1330909" y="2702353"/>
                  </a:lnTo>
                  <a:lnTo>
                    <a:pt x="0" y="2702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2818256"/>
              <a:ext cx="3378828" cy="1074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Cross-device</a:t>
              </a:r>
            </a:p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compatibility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144593">
            <a:off x="8023448" y="-2009860"/>
            <a:ext cx="17617704" cy="17617704"/>
          </a:xfrm>
          <a:custGeom>
            <a:avLst/>
            <a:gdLst/>
            <a:ahLst/>
            <a:cxnLst/>
            <a:rect r="r" b="b" t="t" l="l"/>
            <a:pathLst>
              <a:path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4"/>
                </a:lnTo>
                <a:lnTo>
                  <a:pt x="0" y="1761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842663" y="8148465"/>
            <a:ext cx="6210236" cy="5378093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21068" y="6984168"/>
            <a:ext cx="3151914" cy="2729572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809890" y="4063287"/>
            <a:ext cx="668221" cy="835276"/>
          </a:xfrm>
          <a:custGeom>
            <a:avLst/>
            <a:gdLst/>
            <a:ahLst/>
            <a:cxnLst/>
            <a:rect r="r" b="b" t="t" l="l"/>
            <a:pathLst>
              <a:path h="835276" w="668221">
                <a:moveTo>
                  <a:pt x="0" y="0"/>
                </a:moveTo>
                <a:lnTo>
                  <a:pt x="668220" y="0"/>
                </a:lnTo>
                <a:lnTo>
                  <a:pt x="668220" y="835276"/>
                </a:lnTo>
                <a:lnTo>
                  <a:pt x="0" y="8352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26907" y="4063287"/>
            <a:ext cx="668221" cy="835276"/>
          </a:xfrm>
          <a:custGeom>
            <a:avLst/>
            <a:gdLst/>
            <a:ahLst/>
            <a:cxnLst/>
            <a:rect r="r" b="b" t="t" l="l"/>
            <a:pathLst>
              <a:path h="835276" w="668221">
                <a:moveTo>
                  <a:pt x="0" y="0"/>
                </a:moveTo>
                <a:lnTo>
                  <a:pt x="668221" y="0"/>
                </a:lnTo>
                <a:lnTo>
                  <a:pt x="668221" y="835276"/>
                </a:lnTo>
                <a:lnTo>
                  <a:pt x="0" y="8352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41089" y="4063287"/>
            <a:ext cx="1012233" cy="1011571"/>
          </a:xfrm>
          <a:custGeom>
            <a:avLst/>
            <a:gdLst/>
            <a:ahLst/>
            <a:cxnLst/>
            <a:rect r="r" b="b" t="t" l="l"/>
            <a:pathLst>
              <a:path h="1011571" w="1012233">
                <a:moveTo>
                  <a:pt x="0" y="0"/>
                </a:moveTo>
                <a:lnTo>
                  <a:pt x="1012233" y="0"/>
                </a:lnTo>
                <a:lnTo>
                  <a:pt x="1012233" y="1011571"/>
                </a:lnTo>
                <a:lnTo>
                  <a:pt x="0" y="10115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202335"/>
            <a:ext cx="10874742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true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Evaluation</a:t>
            </a:r>
          </a:p>
          <a:p>
            <a:pPr algn="l">
              <a:lnSpc>
                <a:spcPts val="8000"/>
              </a:lnSpc>
            </a:pPr>
            <a:r>
              <a:rPr lang="en-US" sz="8000" b="true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Summary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8340" y="5114863"/>
            <a:ext cx="5637731" cy="158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2E2E2E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Alpha Phase Presentation and impressions. </a:t>
            </a:r>
          </a:p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2E2E2E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SUS Score: 85.938 </a:t>
            </a:r>
          </a:p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2E2E2E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Enthusiastic adoption by General Manager, Amit Cohen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78249" y="5114863"/>
            <a:ext cx="5189492" cy="200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2E2E2E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Improvement Areas:</a:t>
            </a: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Streamline interface to reduce clicks</a:t>
            </a: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Add filtering options and viewer role</a:t>
            </a: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Implement year-based sorting</a:t>
            </a:r>
          </a:p>
          <a:p>
            <a:pPr algn="l">
              <a:lnSpc>
                <a:spcPts val="32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250419" y="5114863"/>
            <a:ext cx="5006530" cy="200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2E2E2E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Most Valued Features:</a:t>
            </a: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 graphs and Excel export</a:t>
            </a: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Intuitive design</a:t>
            </a: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Effective project categorization</a:t>
            </a:r>
          </a:p>
          <a:p>
            <a:pPr algn="l">
              <a:lnSpc>
                <a:spcPts val="32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703807" y="9647065"/>
            <a:ext cx="46687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9067" y="8937707"/>
            <a:ext cx="5231327" cy="29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</a:rPr>
              <a:t>Back to Agenda Page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414409" y="7086203"/>
            <a:ext cx="3480308" cy="3013963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602192" y="329554"/>
            <a:ext cx="1798578" cy="1557577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4B5F6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8243897" y="-427624"/>
            <a:ext cx="13031070" cy="11284968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13108687" y="152012"/>
            <a:ext cx="920192" cy="796891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13108687" y="550457"/>
            <a:ext cx="1840384" cy="1593781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2526" y="0"/>
            <a:ext cx="4336638" cy="3755333"/>
            <a:chOff x="0" y="0"/>
            <a:chExt cx="4282440" cy="370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76416" t="0" r="-7641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10800000">
            <a:off x="17049377" y="3201058"/>
            <a:ext cx="1609787" cy="1394083"/>
            <a:chOff x="0" y="0"/>
            <a:chExt cx="3619627" cy="31346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231442" y="5352957"/>
            <a:ext cx="2900453" cy="2186664"/>
            <a:chOff x="0" y="0"/>
            <a:chExt cx="3867270" cy="2915552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841133"/>
              <a:ext cx="3867270" cy="1074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Automated reports</a:t>
              </a:r>
            </a:p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generator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1220828" y="0"/>
              <a:ext cx="1425615" cy="1613350"/>
            </a:xfrm>
            <a:custGeom>
              <a:avLst/>
              <a:gdLst/>
              <a:ahLst/>
              <a:cxnLst/>
              <a:rect r="r" b="b" t="t" l="l"/>
              <a:pathLst>
                <a:path h="1613350" w="1425615">
                  <a:moveTo>
                    <a:pt x="0" y="0"/>
                  </a:moveTo>
                  <a:lnTo>
                    <a:pt x="1425615" y="0"/>
                  </a:lnTo>
                  <a:lnTo>
                    <a:pt x="1425615" y="1613350"/>
                  </a:lnTo>
                  <a:lnTo>
                    <a:pt x="0" y="1613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1508" y="5423861"/>
            <a:ext cx="3107722" cy="2115760"/>
            <a:chOff x="0" y="0"/>
            <a:chExt cx="4143629" cy="2821013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746594"/>
              <a:ext cx="4143629" cy="1074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Improving data analytics and graphs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1312409" y="0"/>
              <a:ext cx="1518811" cy="1518811"/>
            </a:xfrm>
            <a:custGeom>
              <a:avLst/>
              <a:gdLst/>
              <a:ahLst/>
              <a:cxnLst/>
              <a:rect r="r" b="b" t="t" l="l"/>
              <a:pathLst>
                <a:path h="1518811" w="1518811">
                  <a:moveTo>
                    <a:pt x="0" y="0"/>
                  </a:moveTo>
                  <a:lnTo>
                    <a:pt x="1518811" y="0"/>
                  </a:lnTo>
                  <a:lnTo>
                    <a:pt x="1518811" y="1518811"/>
                  </a:lnTo>
                  <a:lnTo>
                    <a:pt x="0" y="1518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96091" y="5352957"/>
            <a:ext cx="3368592" cy="2186664"/>
            <a:chOff x="0" y="0"/>
            <a:chExt cx="4491456" cy="29155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439053" y="0"/>
              <a:ext cx="1613350" cy="1613350"/>
            </a:xfrm>
            <a:custGeom>
              <a:avLst/>
              <a:gdLst/>
              <a:ahLst/>
              <a:cxnLst/>
              <a:rect r="r" b="b" t="t" l="l"/>
              <a:pathLst>
                <a:path h="1613350" w="1613350">
                  <a:moveTo>
                    <a:pt x="0" y="0"/>
                  </a:moveTo>
                  <a:lnTo>
                    <a:pt x="1613350" y="0"/>
                  </a:lnTo>
                  <a:lnTo>
                    <a:pt x="1613350" y="1613350"/>
                  </a:lnTo>
                  <a:lnTo>
                    <a:pt x="0" y="1613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0" y="1841133"/>
              <a:ext cx="4491456" cy="1074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Integrating additional council departments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233717" y="1108343"/>
            <a:ext cx="7292796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Future Enhancements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718758" y="9666115"/>
            <a:ext cx="4802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798163" y="5803579"/>
            <a:ext cx="7388722" cy="6398668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4388041" y="430705"/>
            <a:ext cx="5276948" cy="4569862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2196F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39887" y="1698135"/>
            <a:ext cx="7957376" cy="6890729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90122" t="0" r="-9012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6647119" y="7356773"/>
            <a:ext cx="3801687" cy="3292279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90CAF9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2571750"/>
            <a:ext cx="6467010" cy="514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spc="-8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Thank you for listening!</a:t>
            </a:r>
          </a:p>
          <a:p>
            <a:pPr algn="ctr">
              <a:lnSpc>
                <a:spcPts val="10199"/>
              </a:lnSpc>
            </a:pPr>
          </a:p>
          <a:p>
            <a:pPr algn="ctr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Questions?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9778" y="9666115"/>
            <a:ext cx="49113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DAGhzkWSli4</dc:identifier>
  <dcterms:modified xsi:type="dcterms:W3CDTF">2011-08-01T06:04:30Z</dcterms:modified>
  <cp:revision>1</cp:revision>
  <dc:title>Golan Regional Council - Phase II</dc:title>
</cp:coreProperties>
</file>